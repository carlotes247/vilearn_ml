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1" r:id="rId19"/>
    <p:sldId id="272" r:id="rId20"/>
    <p:sldId id="273" r:id="rId21"/>
    <p:sldId id="266" r:id="rId13"/>
    <p:sldId id="267" r:id="rId14"/>
    <p:sldId id="268" r:id="rId15"/>
    <p:sldId id="269" r:id="rId16"/>
    <p:sldId id="270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presProps" Target="presProps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3EB3BD-33FE-4ACE-8802-A181BF3A69D4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A30745-60FE-4995-8768-1496A995D16C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53E541-7FB9-4B9C-8C80-8CF10F6BAD43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styl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91AE2D-E87E-49A1-9685-E6D4618F9CE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ck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to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ste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titl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sty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D86BC6-D45E-4BF8-AAD1-AD2C42A0F71C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styl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DCDF07-09AC-45CD-B479-9F3D962E0041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styl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B84BFA-AC1B-4C4E-9C43-07A6D81DBE43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18ED06-906A-4C69-B864-FE3169E10B27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777850-EF6A-480D-B55C-F53BA984BE34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F1F965-296B-4E7C-A8AF-123D50586641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icon to add picture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737D2F-ED1A-4036-B7FF-34FB1FBCEAEB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Vilearn 2026 Next Study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4" descr="A table with numbers and numbers&#10;&#10;AI-generated content may be incorrect."/>
          <p:cNvPicPr/>
          <p:nvPr/>
        </p:nvPicPr>
        <p:blipFill>
          <a:blip r:embed="rId1"/>
          <a:stretch/>
        </p:blipFill>
        <p:spPr>
          <a:xfrm>
            <a:off x="261360" y="1180800"/>
            <a:ext cx="10820160" cy="242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-1285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GB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Results comparison 2026-05-26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838080" y="749520"/>
            <a:ext cx="10515240" cy="584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ICMI results (submitted, pending review) - ANOVA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6" name="Content Placeholder 2"/>
          <p:cNvSpPr/>
          <p:nvPr/>
        </p:nvSpPr>
        <p:spPr>
          <a:xfrm>
            <a:off x="566280" y="3697560"/>
            <a:ext cx="1051524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New results – Multiple Paired t-tests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7" name="Table 5"/>
          <p:cNvGraphicFramePr/>
          <p:nvPr/>
        </p:nvGraphicFramePr>
        <p:xfrm>
          <a:off x="565200" y="4157280"/>
          <a:ext cx="10663200" cy="2288520"/>
        </p:xfrm>
        <a:graphic>
          <a:graphicData uri="http://schemas.openxmlformats.org/drawingml/2006/table">
            <a:tbl>
              <a:tblPr/>
              <a:tblGrid>
                <a:gridCol w="1834560"/>
                <a:gridCol w="1471320"/>
                <a:gridCol w="1471320"/>
                <a:gridCol w="1471320"/>
                <a:gridCol w="1471320"/>
                <a:gridCol w="1471320"/>
                <a:gridCol w="1471320"/>
              </a:tblGrid>
              <a:tr h="627840">
                <a:tc>
                  <a:txBody>
                    <a:bodyPr lIns="0" tIns="0" rIns="0" bIns="0" anchor="ctr">
                      <a:noAutofit/>
                    </a:bodyPr>
                    <a:p>
                      <a:endParaRPr lang="en-US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0" marR="0" marT="0" marB="0">
                    <a:lnL>
                      <a:noFill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D-GazexSpeaking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T-GazexSpeaking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All-GazexSpeaking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61360">
                <a:tc>
                  <a:txBody>
                    <a:bodyPr lIns="0" tIns="0" rIns="0" bIns="0" anchor="ctr">
                      <a:noAutofit/>
                    </a:bodyPr>
                    <a:p>
                      <a:endParaRPr lang="en-US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0" marR="0" marT="0" marB="0">
                    <a:lnL>
                      <a:noFill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8320">
                <a:tc>
                  <a:txBody>
                    <a:bodyPr lIns="0"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Baseline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0.53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0.10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0.43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0.11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0.45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0.13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1360">
                <a:tc>
                  <a:txBody>
                    <a:bodyPr lIns="0"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SVM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0.66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0.15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0.63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0.21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0.62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0.23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8320">
                <a:tc>
                  <a:txBody>
                    <a:bodyPr lIns="0"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Naive Bayes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-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-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0.62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0.13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-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-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1360">
                <a:tc>
                  <a:txBody>
                    <a:bodyPr lIns="0" tIns="0" r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QDA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-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-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-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-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0.60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tIns="0" r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0.17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8" name="Rectangle 7"/>
          <p:cNvSpPr/>
          <p:nvPr/>
        </p:nvSpPr>
        <p:spPr>
          <a:xfrm>
            <a:off x="2334240" y="2386800"/>
            <a:ext cx="1803960" cy="31068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9" name="Rectangle 8"/>
          <p:cNvSpPr/>
          <p:nvPr/>
        </p:nvSpPr>
        <p:spPr>
          <a:xfrm>
            <a:off x="2334240" y="3288960"/>
            <a:ext cx="1803960" cy="31068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0" name="Rectangle 9"/>
          <p:cNvSpPr/>
          <p:nvPr/>
        </p:nvSpPr>
        <p:spPr>
          <a:xfrm>
            <a:off x="5329440" y="5504760"/>
            <a:ext cx="2925000" cy="7398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1" name="Rectangle 10"/>
          <p:cNvSpPr/>
          <p:nvPr/>
        </p:nvSpPr>
        <p:spPr>
          <a:xfrm>
            <a:off x="8255160" y="5478840"/>
            <a:ext cx="2977560" cy="36324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2" name="Rectangle 11"/>
          <p:cNvSpPr/>
          <p:nvPr/>
        </p:nvSpPr>
        <p:spPr>
          <a:xfrm>
            <a:off x="8255160" y="6196680"/>
            <a:ext cx="2977560" cy="36324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Current Features (Group Level) 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 Mutually Exclusive Gaze Configs (MG, DG, No_DG)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Blink Rate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Blink Duration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Current Detector accuracy (QDA):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Dyads overall accuracy: 77%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High TE class accuracy: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58.82%, High TE precision: 83.34%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Low TE class accuracy: 91.3%, Low TE precision: 75%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Suggested Paralinguistic Features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Speaking-listening behaviour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 mutually exclusive speaking-listening configurations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Speaking (SP), Full-Silence (SI), Overlap (OL)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77" name="Table 3"/>
          <p:cNvGraphicFramePr/>
          <p:nvPr/>
        </p:nvGraphicFramePr>
        <p:xfrm>
          <a:off x="1359720" y="3430800"/>
          <a:ext cx="8011800" cy="2975040"/>
        </p:xfrm>
        <a:graphic>
          <a:graphicData uri="http://schemas.openxmlformats.org/drawingml/2006/table">
            <a:tbl>
              <a:tblPr/>
              <a:tblGrid>
                <a:gridCol w="1602360"/>
                <a:gridCol w="1602360"/>
                <a:gridCol w="1602360"/>
                <a:gridCol w="1602360"/>
                <a:gridCol w="1602360"/>
              </a:tblGrid>
              <a:tr h="495720">
                <a:tc>
                  <a:txBody>
                    <a:bodyPr anchor="t">
                      <a:noAutofit/>
                    </a:bodyPr>
                    <a:p>
                      <a:endParaRPr lang="en-US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Dyads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Triads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95720">
                <a:tc>
                  <a:txBody>
                    <a:bodyPr anchor="t">
                      <a:noAutofit/>
                    </a:bodyPr>
                    <a:p>
                      <a:endParaRPr lang="en-US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Speakers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Silent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Speakers 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Silent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95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SP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95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SI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95720">
                <a:tc rowSpan="2"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OL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>
                        <a:lumMod val="75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2">
                        <a:lumMod val="75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2">
                        <a:lumMod val="75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2">
                        <a:lumMod val="75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2">
                        <a:lumMod val="75000"/>
                      </a:schemeClr>
                    </a:solidFill>
                  </a:tcPr>
                </a:tc>
              </a:tr>
              <a:tr h="49572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-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>
                        <a:lumMod val="75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-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>
                        <a:lumMod val="75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>
                        <a:lumMod val="75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65400" y="365040"/>
            <a:ext cx="11603160" cy="134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Gaze Configs x Speaking-Listening Configs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590400" y="1825560"/>
            <a:ext cx="108410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 Gaze Configs (MG, DG, No_DG) x 3 Speaking Configs (SP, SI, OL) = 9 Mutually Exclusive Configs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MG_SP, MG_SI, MG_OL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DG_SP, DG_SI, DG_OL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No_DG_SP, No_DG_SI, No_DG_OL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RQs: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How do TE values differ between all 9 configs?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How well does a classifier learn to detect TE with these features?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365400" y="365040"/>
            <a:ext cx="11603160" cy="134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Comments from Meeting</a:t>
            </a:r>
            <a:br>
              <a:rPr sz="4400"/>
            </a:b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Gaze Configs x Speaking-Silent Configs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590400" y="1825560"/>
            <a:ext cx="108410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G_SI (G means either MG or DG)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No_G_SI (no G, no talk)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SP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G_OnSpeaker_SP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No_G_OnSpeaker_SP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G_OnSpeaker_OL (only for dyads potentially because it might be too complex for triads)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Do we have a way to detect listening beyond G_OnSpeaker_SP?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9 Mutually Exclusive Configs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MG_SP, MG_SI, MG_OL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DG_SP, DG_SI, DG_OL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No_DG_SP, No_DG_SI, No_DG_OL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Suggested Linguistic Features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730080" y="2362680"/>
            <a:ext cx="4144320" cy="375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Purely linguistic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segment_duration_s 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word_count    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avg_word_length 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words_per_second  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question                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statement               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4" name="Content Placeholder 2"/>
          <p:cNvSpPr/>
          <p:nvPr/>
        </p:nvSpPr>
        <p:spPr>
          <a:xfrm>
            <a:off x="5171040" y="2361240"/>
            <a:ext cx="6666480" cy="37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34308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Affective derived from  linguistic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sentiment_p_blue_mean  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sentiment_p_green_mean  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sentiment_p_red_mean   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arousal_mean          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dominance_mean         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valence_mean            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Content Placeholder 2"/>
          <p:cNvSpPr/>
          <p:nvPr/>
        </p:nvSpPr>
        <p:spPr>
          <a:xfrm>
            <a:off x="836640" y="1690560"/>
            <a:ext cx="1086084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From transcripts (Tobias Hallmen did it yaay!)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Suggested Linguistic Features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730080" y="2362680"/>
            <a:ext cx="10152720" cy="375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Purely linguistic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segment_duration_s (length of what Whisper outputs as a segment, kind of like sentence length)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word_count    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avg_word_length 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words_per_second  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question                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statement               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8" name="Content Placeholder 2"/>
          <p:cNvSpPr/>
          <p:nvPr/>
        </p:nvSpPr>
        <p:spPr>
          <a:xfrm>
            <a:off x="836640" y="1690560"/>
            <a:ext cx="1086084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From transcripts (Tobias Hallmen did it yaay!)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Research Questions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8080" y="15228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Paralinguistic RQs: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,monospace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How do TE values differ between all 9 gaze x speaker configs?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,monospace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How well does a classifier learn to detect TE with gaze x speaker features?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Linguistic RQs: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,monospace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How well does a classifier learn to detect TE with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  <a:ea typeface="Calibri"/>
              </a:rPr>
              <a:t>only linguistic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features?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,monospace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Which linguistic features have the strongest predictive power?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Multimodal: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34308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,monospace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How well does a classifier learn to detect TE with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  <a:ea typeface="Calibri"/>
              </a:rPr>
              <a:t>both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feature sets?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Linguistic TE Detector — Setup (DISCOVER)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Data: 20 floorlevel groups (8 dyads, 12 triads), interaction-time only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Unit: 60 s windows (best granularity, see next); target: task engagement high/low at thresh 0.5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Features (no gaze):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Linguistic: word_count, words_per_second, avg_word_length, question/statement_rate, segment_count, speaking_seconds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Affective: sentiment, arousal, dominance, valence; plus speaking activity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Eval: leave-one-session-out CV; model sweep (QDA, SVM, NB, kNN, RF, LogReg) vs uniform baseline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Reported on dyads (D) / triads (T) / all, matching prior 3-fold reporting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Modalities (ablation buckets)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155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77824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/>
                        <a:t>Modality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Features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/>
                        <a:t>(Para)linguistic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text: word_count, words/sec, avg_word_length, question/statement_rate, sentiment;  speaking: speaking_role, speaking_seconds, segment_count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/>
                        <a:t>Audio (affect)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arousal, dominance, valence  (group-level audio emotion)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/>
                        <a:t>Multimodal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(para)linguistic + audio  (= our main detector)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/>
                        <a:t>(+ embeddings)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optional: openSMILE + emoW2V + sentiment embeddings, PCA (degrade slightly)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4747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/>
              <a:t>Audio is group-shared (one group.audio.wav); the transcript is diarized from it. Speaking attributes the shared signal to each role -&gt; folded into (para)linguistic. v/a/d derived from audio -&gt; audio. Ablation: (para)linguistic-only vs audio-only vs both.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Modality Ablation — what each modality detects (60 s, LOSO)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9144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/>
                        <a:t>Target (split)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Multimodal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Audio-only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(Para)ling-only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Group TE (All)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Group TE (Triads)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Group TE (Dyads)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0.57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Individual (All)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0.70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Individual (Triads)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0.72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Individual (Dyads)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4747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/>
              <a:t>Best model per cell, accuracy. DOUBLE DISSOCIATION: group task engagement is carried by audio affect (valence/dominance) - text adds nothing; individual engagement is carried by (para)linguistic (speaking + word rate) - group-shared audio gives no per-role signal. Combining modalities = the dominant one, no synergy.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Changed Since Last Week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9601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383280"/>
                <a:gridCol w="3840480"/>
              </a:tblGrid>
              <a:tr h="3657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Last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Now (harmonized)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helen only · 74% high (skew)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2-annotator mean · ~49% (balanced)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Group TE — 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0.68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Group TE — Triads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0.70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Group TE — Dyads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0.65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vs prior gaze QDA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beats ✓ (d=0.92–1.35)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n.s. — matches prior (0.73)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1"/>
              <a:t>Two artifacts removed — they are independent:</a:t>
            </a:r>
          </a:p>
          <a:p>
            <a:pPr lvl="1"/>
            <a:r>
              <a:rPr sz="1200"/>
              <a:t>(1) Our labels were single-annotator + 74% high → majority baseline 0.74 inflated last week's accuracy. Adopting the published 2-annotator mean balances to ~49% → honest 0.68.</a:t>
            </a:r>
          </a:p>
          <a:p>
            <a:pPr lvl="1"/>
            <a:r>
              <a:rPr sz="1200"/>
              <a:t>(2) The prior baseline itself was computed on time-stretch-bugged labels (60 Hz averaging error, 13/20 groups). Re-ran it on clean labels under identical nested CV.</a:t>
            </a:r>
          </a:p>
          <a:p>
            <a:pPr lvl="1"/>
            <a:r>
              <a:rPr sz="1200"/>
              <a:t>Net: 0.68, statistically tied with the prior (neither wins); double dissociation + gaze-free parity hold. Better surfaced now than at review.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" name="Table 1"/>
          <p:cNvGraphicFramePr/>
          <p:nvPr/>
        </p:nvGraphicFramePr>
        <p:xfrm>
          <a:off x="365760" y="1371600"/>
          <a:ext cx="10423800" cy="128016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737360"/>
                <a:gridCol w="731520"/>
                <a:gridCol w="2194560"/>
                <a:gridCol w="2560320"/>
              </a:tblGrid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Split (folds)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Best model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Acc (mean±SD)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F1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vs baseline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vs prior GazexSpeak QDA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r>
                        <a:rPr sz="1200" b="0"/>
                        <a:t>Dyads (8)</a:t>
                      </a: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sz="1200" b="0"/>
                        <a:t>Decision Tree</a:t>
                      </a: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sz="1200" b="0"/>
                        <a:t>0.65 ± 0.11</a:t>
                      </a: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sz="1200" b="0"/>
                        <a:t>0.54</a:t>
                      </a: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sz="1200" b="0"/>
                        <a:t>n.s. (d=0.63)</a:t>
                      </a: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sz="1200"/>
                        <a:t>n.s. (prior 0.77; d=−0.58)</a:t>
                      </a: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r>
                        <a:rPr sz="1200" b="0"/>
                        <a:t>Triads (12)</a:t>
                      </a: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sz="1200" b="0"/>
                        <a:t>QDA</a:t>
                      </a: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sz="1200" b="0"/>
                        <a:t>0.70 ± 0.20</a:t>
                      </a: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sz="1200" b="0"/>
                        <a:t>0.63</a:t>
                      </a: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sz="1200" b="0"/>
                        <a:t>n.s. (d=0.54)</a:t>
                      </a: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sz="1200"/>
                        <a:t>n.s. (prior 0.65; d=+0.36)</a:t>
                      </a: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r>
                        <a:rPr sz="1200" b="0"/>
                        <a:t>All (20)</a:t>
                      </a: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sz="1200" b="0"/>
                        <a:t>Logistic Regression</a:t>
                      </a: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sz="1200" b="0"/>
                        <a:t>0.68 ± 0.18</a:t>
                      </a: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sz="1200" b="0"/>
                        <a:t>0.57</a:t>
                      </a: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sz="1200" b="0"/>
                        <a:t>n.s. (d=0.58)</a:t>
                      </a: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sz="1200"/>
                        <a:t>n.s. (prior 0.73; d=−0.36)</a:t>
                      </a: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4" name="TextBox 2"/>
          <p:cNvSpPr/>
          <p:nvPr/>
        </p:nvSpPr>
        <p:spPr>
          <a:xfrm>
            <a:off x="365760" y="2834640"/>
            <a:ext cx="10423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Per-fold LOSO accuracy; paired t-test (Bonferroni) + Cohen's d. Harmonized 2-annotator labels + identical nested CV. Our detector and the prior gaze QDA are statistically indistinguishable on every split (all n.s.) — we edge triads, the prior edges dyads. The prior QDA is itself n.s. vs chance after Bonferroni too (d up to 1.18, but n=8–20 underpowered): nothing here — ours or prior — survives correction. The earlier 'beats prior' result was a label-distribution artifact.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365760" y="27432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Group TE Detection: Results + Significance (vs prior detector)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Why 60 s Windows (Granularity)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457200" y="2560320"/>
            <a:ext cx="94827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Aggregating to 60 s removes noise -&gt; large gain. 1 Hz frames and segment-based too noisy. 60 s also matches the prior-work window size.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9" name="Table 98"/>
          <p:cNvGraphicFramePr>
            <a:graphicFrameLocks noGrp="1"/>
          </p:cNvGraphicFramePr>
          <p:nvPr/>
        </p:nvGraphicFramePr>
        <p:xfrm>
          <a:off x="457200" y="1463040"/>
          <a:ext cx="996696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474720"/>
                <a:gridCol w="3291840"/>
              </a:tblGrid>
              <a:tr h="310896">
                <a:tc>
                  <a:txBody>
                    <a:bodyPr/>
                    <a:lstStyle/>
                    <a:p>
                      <a:r>
                        <a:rPr sz="1200" b="1"/>
                        <a:t>Granularity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Group TE acc (best model)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Note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/>
                        <a:t>Transcript 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per-utterance, noisy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/>
                        <a:t>60 s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best — matches prior work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0" name="TextBox 99"/>
          <p:cNvSpPr txBox="1"/>
          <p:nvPr/>
        </p:nvSpPr>
        <p:spPr>
          <a:xfrm>
            <a:off x="4572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/>
              <a:t>Best model per granularity (group TE, LOSO). Coarser aggregation → less noise; 60 s wins. (1 Hz frame omitted — not recomputed on harmonized labels.)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What Drives Task Engagement? (feature contribution)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Group TE: group affect dominates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valence (positive -&gt; high TE), dominance (negative), arousal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Individual engagement: more distributed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own speaking activity + word_count / words_per_second + affect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Method: standardized logistic-regression coefficients + Random-Forest importance (LOSO)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Linguistic features explain individual engagement more than group TE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101" name="Table 100"/>
          <p:cNvGraphicFramePr>
            <a:graphicFrameLocks noGrp="1"/>
          </p:cNvGraphicFramePr>
          <p:nvPr/>
        </p:nvGraphicFramePr>
        <p:xfrm>
          <a:off x="457200" y="3749039"/>
          <a:ext cx="78638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  <a:gridCol w="2377440"/>
              </a:tblGrid>
              <a:tr h="310896">
                <a:tc>
                  <a:txBody>
                    <a:bodyPr/>
                    <a:lstStyle/>
                    <a:p>
                      <a:r>
                        <a:rPr sz="1200" b="1"/>
                        <a:t>Feature (Group 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LogReg coef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RF importance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/>
                        <a:t>dominance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-1.43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0.18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/>
                        <a:t>valence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+0.58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0.16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/>
                        <a:t>question_rate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0.04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 b="0"/>
                        <a:t>arousal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+0.19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0.12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2" name="TextBox 101"/>
          <p:cNvSpPr txBox="1"/>
          <p:nvPr/>
        </p:nvSpPr>
        <p:spPr>
          <a:xfrm>
            <a:off x="457200" y="5669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/>
              <a:t>Group TE driven by audio affect (dominance −, valence +); higher question rate → lower TE. Individual engagement: speaking activity + word-rate + text.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Do Audio / Text Embeddings Help?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Tested base features + openSMILE + emoW2V + sentiment embeddings (1880 dims -&gt; PCA)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 improvement - embeddings on top of base features hurt cross-session F1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High-dimensional streams add noise that degrades leave-one-session-out generalization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Conclusion: keep the detector light - simple interpretable features win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103" name="Table 102"/>
          <p:cNvGraphicFramePr>
            <a:graphicFrameLocks noGrp="1"/>
          </p:cNvGraphicFramePr>
          <p:nvPr/>
        </p:nvGraphicFramePr>
        <p:xfrm>
          <a:off x="457200" y="3749039"/>
          <a:ext cx="941832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011680"/>
                <a:gridCol w="2468880"/>
                <a:gridCol w="1645920"/>
              </a:tblGrid>
              <a:tr h="310896">
                <a:tc>
                  <a:txBody>
                    <a:bodyPr/>
                    <a:lstStyle/>
                    <a:p>
                      <a:r>
                        <a:rPr sz="1200" b="1"/>
                        <a:t>Model (Group TE, 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Base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+Embeddings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Delta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-0.04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-0.13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/>
                        <a:t>Naive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-0.04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4" name="TextBox 103"/>
          <p:cNvSpPr txBox="1"/>
          <p:nvPr/>
        </p:nvSpPr>
        <p:spPr>
          <a:xfrm>
            <a:off x="457200" y="5669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/>
              <a:t>Embeddings (openSMILE + emoW2V + sentiment, PCA) added on top of base features. Net degradation — best base 0.68 &gt; best +embeddings 0.63. Added dimensions = noise (harmonized 2-annotator labels).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Answers to Research Questions &amp; Next Steps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1500"/>
              <a:t>Features = linguistic (text) + audio-derived affect (valence/arousal/dominance) + speaking → a MULTIMODAL detector, not linguistic-only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r>
              <a:rPr sz="1500"/>
              <a:t>With harmonized 2-annotator labels + nested CV: multimodal group TE ≈ 0.68 All / 0.70 Triads / 0.65 Dyads — statistically TIED with the prior gaze×speaking QDA (all n.s.); our detector edges triads, gaze edges dyads</a:t>
            </a:r>
          </a:p>
          <a:p>
            <a:r>
              <a:rPr sz="1500"/>
              <a:t>Double dissociation holds: group TE ← audio affect (valence/dominance); individual engagement ← (para)linguistic (speaking + text)</a:t>
            </a:r>
          </a:p>
          <a:p>
            <a:r>
              <a:rPr sz="1500"/>
              <a:t>Carlos's published baseline was itself depressed by a label time-stretch bug (clean QDA 0.67 vs published 0.60)</a:t>
            </a:r>
          </a:p>
          <a:p>
            <a:r>
              <a:rPr sz="1500"/>
              <a:t>Embeddings (openSMILE/emoW2V/sentiment, PCA) on top of base: no gain</a:t>
            </a:r>
          </a:p>
          <a:p>
            <a:r>
              <a:rPr sz="1500"/>
              <a:t>Open: nothing survives Bonferroni vs chance (n=8–20 underpowered); labels now balanced ~49% high (was 74% skew)</a:t>
            </a:r>
          </a:p>
          <a:p>
            <a:r>
              <a:rPr sz="1500"/>
              <a:t>1-year: real-time multimodal per-window TE detector feeding adaptive VR feedback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Application>LibreOffice/26.2.3.2$Linux_X86_64 LibreOffice_project/d4d5ed47b6084125f28d269a5650105d54dde034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2026-03-02T17:10:27Z</dcterms:created>
  <dc:creator/>
  <dc:description/>
  <dc:language>en-US</dc:language>
  <cp:lastModifiedBy/>
  <dcterms:modified xsi:type="dcterms:W3CDTF">2026-06-01T16:48:43Z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9</vt:i4>
  </property>
</Properties>
</file>