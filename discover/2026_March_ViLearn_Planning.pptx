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7E76B4-981C-4EC6-A19E-693C459C4FC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ctr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034D85E-D096-444A-99D8-0BB449F3C80C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22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5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6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14D7F32-8888-45CD-8034-4A1668914DA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0120" cy="159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0040" cy="48715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10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icon to add picture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0120" cy="380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1C176C-FDF1-4058-885C-371D39F5A03B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AEA24D0-6978-4901-8D2C-95ED04AFFB17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6920" cy="580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2080" cy="5809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B6FCB7A-7F5C-4B1F-91EA-90BCB3C4B28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2B39D6-72F6-41BF-95D9-114607202C5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3440" cy="2850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3440" cy="1497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>
                  <a:tint val="82000"/>
                </a:schemeClr>
              </a:solidFill>
              <a:effectLst/>
              <a:uFillTx/>
              <a:latin typeface="Aptos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58F24-D436-4CAC-87C6-9A8609889194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7932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8B9D411-CD7E-4ABC-BB62-454C139E8199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5560" cy="8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5560" cy="368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1120" cy="82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marL="228600"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1120" cy="3682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143000" lvl="2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600200" lvl="3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057400" lvl="4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82CCCB0-2451-48E1-8A5F-4F4035FBB5A2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tabLst>
                <a:tab pos="0" algn="l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FE3327-FC32-401B-A534-98648EB0E7BF}" type="slidenum">
              <a:rPr lang="en-US" sz="1200" b="0" u="none" strike="noStrike">
                <a:solidFill>
                  <a:schemeClr val="dk1">
                    <a:tint val="82000"/>
                  </a:schemeClr>
                </a:solidFill>
                <a:effectLst/>
                <a:uFillTx/>
                <a:latin typeface="Aptos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1840" cy="2385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60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Vilearn 2026 Next Study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ubTitle"/>
          </p:nvPr>
        </p:nvSpPr>
        <p:spPr>
          <a:xfrm>
            <a:off x="1523880" y="3602160"/>
            <a:ext cx="9141840" cy="1653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Picture 4" descr="A table with numbers and numbers&#10;&#10;AI-generated content may be incorrect."/>
          <p:cNvPicPr/>
          <p:nvPr/>
        </p:nvPicPr>
        <p:blipFill>
          <a:blip r:embed="rId1"/>
          <a:stretch/>
        </p:blipFill>
        <p:spPr>
          <a:xfrm>
            <a:off x="261360" y="1180800"/>
            <a:ext cx="10818360" cy="2426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-12852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GB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Results comparison 2026-05-26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838080" y="749520"/>
            <a:ext cx="10513440" cy="5824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ICMI results (submitted, pending review) - ANOVA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66" name="Content Placeholder 2"/>
          <p:cNvSpPr/>
          <p:nvPr/>
        </p:nvSpPr>
        <p:spPr>
          <a:xfrm>
            <a:off x="566280" y="3697560"/>
            <a:ext cx="1051344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GB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New results – Multiple Paired t-tests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7" name="Table 5"/>
          <p:cNvGraphicFramePr/>
          <p:nvPr/>
        </p:nvGraphicFramePr>
        <p:xfrm>
          <a:off x="565200" y="4157280"/>
          <a:ext cx="10662120" cy="2288520"/>
        </p:xfrm>
        <a:graphic>
          <a:graphicData uri="http://schemas.openxmlformats.org/drawingml/2006/table">
            <a:tbl>
              <a:tblPr/>
              <a:tblGrid>
                <a:gridCol w="1834560"/>
                <a:gridCol w="1471320"/>
                <a:gridCol w="1471320"/>
                <a:gridCol w="1471320"/>
                <a:gridCol w="1471320"/>
                <a:gridCol w="1471320"/>
                <a:gridCol w="1471320"/>
              </a:tblGrid>
              <a:tr h="62784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D-GazexSpeaking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T-GazexSpeaking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All-GazexSpeaking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endParaRPr lang="en-US" sz="1800" b="0" u="none" strike="noStrike">
                        <a:solidFill>
                          <a:schemeClr val="dk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ctr" marL="0" marR="0" marT="0" marB="0">
                    <a:lnL w="12240">
                      <a:noFill/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noFill/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SD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Baseline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SVM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0.15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0.23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832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Naive Bayes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61360">
                <a:tc>
                  <a:txBody>
                    <a:bodyPr lIns="0" tIns="0" rIns="0" bIns="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QDA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0" tIns="0" rIns="0" bIns="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0.17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0" marB="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68" name="Rectangle 7"/>
          <p:cNvSpPr/>
          <p:nvPr/>
        </p:nvSpPr>
        <p:spPr>
          <a:xfrm>
            <a:off x="2334240" y="2386800"/>
            <a:ext cx="1802160" cy="3088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69" name="Rectangle 8"/>
          <p:cNvSpPr/>
          <p:nvPr/>
        </p:nvSpPr>
        <p:spPr>
          <a:xfrm>
            <a:off x="2334240" y="3288960"/>
            <a:ext cx="1802160" cy="30888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0" name="Rectangle 9"/>
          <p:cNvSpPr/>
          <p:nvPr/>
        </p:nvSpPr>
        <p:spPr>
          <a:xfrm>
            <a:off x="5329440" y="5504760"/>
            <a:ext cx="2923200" cy="7380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1" name="Rectangle 10"/>
          <p:cNvSpPr/>
          <p:nvPr/>
        </p:nvSpPr>
        <p:spPr>
          <a:xfrm>
            <a:off x="8255160" y="5478840"/>
            <a:ext cx="2975760" cy="3614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sp>
        <p:nvSpPr>
          <p:cNvPr id="72" name="Rectangle 11"/>
          <p:cNvSpPr/>
          <p:nvPr/>
        </p:nvSpPr>
        <p:spPr>
          <a:xfrm>
            <a:off x="8255160" y="6196680"/>
            <a:ext cx="2975760" cy="36144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Current Features (Group Level) 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Gaze Configs (MG, DG, No_DG)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Rate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Blink Duration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Current Detector accuracy (QDA):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Dyads overall accuracy: 77%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TE class accuracy: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58.82%, High TE precision: 83.34%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Low TE class accuracy: 91.3%, Low TE precision: 75%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Paralinguistic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Speaking-listening behaviour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mutually exclusive speaking-listening configurations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Speaking (SP), Full-Silence (SI), Overlap (OL)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77" name="Table 3"/>
          <p:cNvGraphicFramePr/>
          <p:nvPr/>
        </p:nvGraphicFramePr>
        <p:xfrm>
          <a:off x="1359720" y="3430800"/>
          <a:ext cx="8011440" cy="2974320"/>
        </p:xfrm>
        <a:graphic>
          <a:graphicData uri="http://schemas.openxmlformats.org/drawingml/2006/table">
            <a:tbl>
              <a:tblPr/>
              <a:tblGrid>
                <a:gridCol w="1602360"/>
                <a:gridCol w="1602360"/>
                <a:gridCol w="1602360"/>
                <a:gridCol w="1602360"/>
                <a:gridCol w="1602360"/>
              </a:tblGrid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grid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3816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 h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endParaRPr lang="en-US" sz="1800" b="1" u="none" strike="noStrike">
                        <a:solidFill>
                          <a:schemeClr val="lt1"/>
                        </a:solidFill>
                        <a:effectLst/>
                        <a:uFillTx/>
                        <a:latin typeface="Aptos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Speakers 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3816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lt1"/>
                          </a:solidFill>
                          <a:effectLst/>
                          <a:uFillTx/>
                          <a:latin typeface="Aptos"/>
                        </a:rPr>
                        <a:t>Silent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SP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20000"/>
                      </a:schemeClr>
                    </a:solidFill>
                  </a:tcPr>
                </a:tc>
              </a:tr>
              <a:tr h="49572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SI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accent1">
                        <a:tint val="40000"/>
                      </a:schemeClr>
                    </a:solidFill>
                  </a:tcPr>
                </a:tc>
              </a:tr>
              <a:tr h="495720">
                <a:tc rowSpan="2"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1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OL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  <a:tr h="495720">
                <a:tc vMerge="1">
                  <a:txBody>
                    <a:bodyPr lIns="90000" tIns="45000" rIns="90000" bIns="45000" anchor="t">
                      <a:noAutofit/>
                    </a:bodyPr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-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US" sz="1800" b="0" u="none" strike="noStrike">
                          <a:solidFill>
                            <a:schemeClr val="dk1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chemeClr val="lt2">
                        <a:lumMod val="75000"/>
                      </a:schemeClr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360" cy="134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Speaking-Listening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2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3 Gaze Configs (MG, DG, No_DG) x 3 Speaking Configs (SP, SI, OL) = 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RQs: 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do TE values differ between all 9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How well does a classifier learn to detect TE with these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5400" y="365040"/>
            <a:ext cx="11601360" cy="1346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Comments from Meeting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Gaze Configs x Speaking-Silent Configs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1" name="PlaceHolder 2"/>
          <p:cNvSpPr>
            <a:spLocks noGrp="1"/>
          </p:cNvSpPr>
          <p:nvPr>
            <p:ph/>
          </p:nvPr>
        </p:nvSpPr>
        <p:spPr>
          <a:xfrm>
            <a:off x="590400" y="1825560"/>
            <a:ext cx="108392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 fontScale="77500" lnSpcReduction="19999"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G_SI (G means either MG or DG)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No_G_SI (no G, no talk)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G_OnSpeaker_SP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No_G_OnSpeaker_SP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G_OnSpeaker_OL (only for dyads potentially because it might be too complex for triads)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 we have a way to detect listening beyond G_OnSpeaker_SP?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9 Mutually Exclusive Configs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MG_SP, MG_SI, MG_OL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DG_SP, DG_SI, 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"/>
              <a:buChar char="o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No_DG_SP, No_DG_SI, No_DG_OL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4142520" cy="375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4" name="Content Placeholder 2"/>
          <p:cNvSpPr/>
          <p:nvPr/>
        </p:nvSpPr>
        <p:spPr>
          <a:xfrm>
            <a:off x="5171040" y="2361240"/>
            <a:ext cx="6664680" cy="375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34308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Affective derived from  linguistic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sentiment_p_blue_mean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sentiment_p_green_mean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sentiment_p_red_mean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arousal_mean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dominance_mean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00280" lvl="1" indent="-34308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valence_mean             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499"/>
              </a:spcBef>
            </a:pP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ontent Placeholder 2"/>
          <p:cNvSpPr/>
          <p:nvPr/>
        </p:nvSpPr>
        <p:spPr>
          <a:xfrm>
            <a:off x="836640" y="1690560"/>
            <a:ext cx="108590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Suggested Linguistic Features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730080" y="2362680"/>
            <a:ext cx="10150920" cy="37580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Purely linguistic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segment_duration_s (length of what Whisper outputs as a segment, kind of like sentence length)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word_count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avg_word_length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words_per_second  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question 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  <a:ea typeface="Aptos"/>
              </a:rPr>
              <a:t>statement                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88" name="Content Placeholder 2"/>
          <p:cNvSpPr/>
          <p:nvPr/>
        </p:nvSpPr>
        <p:spPr>
          <a:xfrm>
            <a:off x="836640" y="1690560"/>
            <a:ext cx="1085904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From transcripts (Tobias Hallmen did it yaay!)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Research Questions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838080" y="152280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rm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Paralinguistic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do TE values differ between all 9 gaze x speaker configs?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How well does a classifier learn to detect TE with gaze x speaker 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 RQs: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only linguistic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Which linguistic features have the strongest predictive power?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Multimodal: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34308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Courier New,monospace"/>
              <a:buChar char="o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How well does a classifier learn to detect TE with </a:t>
            </a: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"/>
                <a:ea typeface="Calibri"/>
              </a:rPr>
              <a:t>both </a:t>
            </a: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  <a:ea typeface="Calibri"/>
              </a:rPr>
              <a:t>feature sets?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indent="0" algn="l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</a:pP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Linguistic TE Detector — Setup (DISCOVER)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Data: 20 floorlevel groups (8 dyads, 12 triads), interaction-time only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Unit: 60 s windows (best granularity, see next); target: task engagement high/low at thresh 0.5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(no gaze):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Linguistic: word_count, words_per_second, avg_word_length, question/statement_rate, segment_count, speaking_seconds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685800" lvl="1" indent="-228600" algn="l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Affective: sentiment, arousal, dominance, valence; plus speaking activity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Eval: leave-one-session-out CV; model sweep (QDA, SVM, NB, kNN, RF, LogReg) vs uniform baseline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Reported on dyads (D) / triads (T) / all, matching prior 3-fold reporting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Feature Modalities (ablation buckets)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4" name="Table 4"/>
          <p:cNvGraphicFramePr/>
          <p:nvPr/>
        </p:nvGraphicFramePr>
        <p:xfrm>
          <a:off x="838080" y="1690200"/>
          <a:ext cx="10514520" cy="1891440"/>
        </p:xfrm>
        <a:graphic>
          <a:graphicData uri="http://schemas.openxmlformats.org/drawingml/2006/table">
            <a:tbl>
              <a:tblPr/>
              <a:tblGrid>
                <a:gridCol w="2240640"/>
                <a:gridCol w="827424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Modality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3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Features</a:t>
                      </a:r>
                      <a:endParaRPr lang="en-US" sz="13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(7, group-window)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segments/window, words/window, avg word length, question ratio, speech ratio, mean segment duration, unfinished ratio — raw ASR segments, no sentiment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arousal, dominance, valence (group-level v/a/d, derived from audio)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 (prior work)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GazexSpeaking: BPM, blink durations, gaze on speaker / on silent (same all splits); AIxVR per-split sets as second prior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Fusions / tested &amp; rejected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concatenations (audio+linguistic, linguistic+gaze, all three); openSMILE 88, emoW2V + sentiment embeddings all lose to handcrafted (slides on extended sets)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95" name="TextBox 5"/>
          <p:cNvSpPr/>
          <p:nvPr/>
        </p:nvSpPr>
        <p:spPr>
          <a:xfrm>
            <a:off x="838080" y="3718080"/>
            <a:ext cx="10513440" cy="42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Audio is group-shared (one group.audio.wav); the transcript is diarized from it. Speaking attributes the shared signal to each role → folded into linguistic. v/a/d derived from audio → audio. All prediction is at the 60 s group-window level — segment-level and per-role prediction dropped with the individual-TE track.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229680" y="-410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Overall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97" name="Table 96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0.069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0.246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± 0.241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± 0.258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98" name="TextBox 97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is the strongest single set (0.771); linguistic+GazexSpeaking the strongest fusion (0.786). AIxVR is dominated everywhere, incl. its linguistic fusion (0.741 &lt; 0.771).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 FIX: earlier version broadcast the group label onto per-role rows — that diluted text features (a silent listener contributed a zero-word row to an engaged group). Every modality is now aggregated over the whole group window: same unit as the target construct.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Individual-TE prediction track ARCHIVED (labels are single-annotator; group TE has the clean 2-annotator mean). This paper = group TE only.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Per-split tables: next two slides. Extended sets (openSMILE, embeddings): slides 20/22.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98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365760" y="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Dyads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1" name="Table 2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± 0.195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± 0.190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± 0.143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1.50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± 0.179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± 0.223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0.135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2" name="TextBox 3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 rules dyads: GazexSpeaking 0.830 best single (t-test sig, perm ns at n=8); linguistic+GazexSpeaking 0.842 is the best dyad detector and the ONLY one significant under both tests.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 is flat (0.603, ns both) and drags fusions down (audio+linguistic 0.639 &lt; linguistic 0.680).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n=8 dyad groups — wide variance; treat single-marker cells as trends.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4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230760" y="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Modality Ablation — Triads (60 s group windows, nested LOSO)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05" name="Table 2"/>
          <p:cNvGraphicFramePr/>
          <p:nvPr/>
        </p:nvGraphicFramePr>
        <p:xfrm>
          <a:off x="365760" y="1005840"/>
          <a:ext cx="8777880" cy="3291480"/>
        </p:xfrm>
        <a:graphic>
          <a:graphicData uri="http://schemas.openxmlformats.org/drawingml/2006/table">
            <a:tbl>
              <a:tblPr/>
              <a:tblGrid>
                <a:gridCol w="2743200"/>
                <a:gridCol w="640080"/>
                <a:gridCol w="1097280"/>
                <a:gridCol w="1737360"/>
                <a:gridCol w="731520"/>
                <a:gridCol w="914400"/>
                <a:gridCol w="914400"/>
              </a:tblGrid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± 0.253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 (prior gaze)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(affect 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(transcript stats)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± 0.263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± 0.289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0.242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396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± 0.306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+ linguistic + 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06" name="TextBox 3"/>
          <p:cNvSpPr/>
          <p:nvPr/>
        </p:nvSpPr>
        <p:spPr>
          <a:xfrm>
            <a:off x="365760" y="4526280"/>
            <a:ext cx="11429640" cy="159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Gaze-free wins triads: audio+linguistic 0.784 best; linguistic 0.766 best single set. GazexSpeaking drops to 0.695 — gaze needs an unambiguous target; diffuse in 3-person groups.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reduces to 1 feature (BPM) in triads — 0.581, uninformative.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Adding gaze to the best fusion hurts: triple 0.757 &lt; audio+linguistic 0.784.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4"/>
          <p:cNvSpPr/>
          <p:nvPr/>
        </p:nvSpPr>
        <p:spPr>
          <a:xfrm>
            <a:off x="365760" y="6309360"/>
            <a:ext cx="114296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TextBox 2"/>
          <p:cNvSpPr/>
          <p:nvPr/>
        </p:nvSpPr>
        <p:spPr>
          <a:xfrm>
            <a:off x="321120" y="228600"/>
            <a:ext cx="1042200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Main Results — Group-Level TE Detection (185 windows, clean labels)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9" name="Table 106"/>
          <p:cNvGraphicFramePr/>
          <p:nvPr/>
        </p:nvGraphicFramePr>
        <p:xfrm>
          <a:off x="552960" y="1162080"/>
          <a:ext cx="8686440" cy="329184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± 0.238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± 0.200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± 0.102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2.30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linguistic+GxS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± 0.088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2.81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prior gaze (GxS)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± 0.294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combined: 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± 0.299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0" name="TextBox 107"/>
          <p:cNvSpPr/>
          <p:nvPr/>
        </p:nvSpPr>
        <p:spPr>
          <a:xfrm>
            <a:off x="457560" y="5121000"/>
            <a:ext cx="11428560" cy="127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Both significance tests reported per the 2026-07-01 decision: permutation (shuffled-label null) and one-sample t-test vs the majority floor; effect size = Cohen's d vs that floor.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Prior gaze (GazexSpeaking, features from prior work) re-evaluated under the identical protocol — fair comparison, clean labels.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feature-set grid with all sets and second-best models: slides 20 &amp; 22 +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Rows are feature SETS, not modalities: GxS itself fuses eye-tracking with speaking status (diarization), AIxVR fuses gaze and blink streams — so we label sets by name (prior / ours / combined), not by modality count.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108"/>
          <p:cNvSpPr/>
          <p:nvPr/>
        </p:nvSpPr>
        <p:spPr>
          <a:xfrm>
            <a:off x="457560" y="480060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365760" y="4716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What Drives the Linguistic Detector? (drop-one + coefficients)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3" name="Table 113"/>
          <p:cNvGraphicFramePr/>
          <p:nvPr/>
        </p:nvGraphicFramePr>
        <p:xfrm>
          <a:off x="365760" y="1005840"/>
          <a:ext cx="8412120" cy="219456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554480"/>
                <a:gridCol w="1005840"/>
                <a:gridCol w="1005840"/>
                <a:gridCol w="100584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solo acc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drop-one Δ (All)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coef 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segments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+0.45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words / window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-0.022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+1.12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+1.28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avg word length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question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-0.039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-0.56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-0.31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-0.64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speech ratio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-0.004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-0.24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+0.18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mean segment duration (s)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+0.62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-0.10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+0.92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unfinished ratio (NEW)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+0.000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+0.20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+0.05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+0.33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4" name="TextBox 114"/>
          <p:cNvSpPr/>
          <p:nvPr/>
        </p:nvSpPr>
        <p:spPr>
          <a:xfrm>
            <a:off x="365760" y="3429000"/>
            <a:ext cx="11428560" cy="237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Final 7-feature set (raw ASR segments; words_per_second removed as an exact word-count duplicate). Full set Overall: 0.771 ± 0.210.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Signal stays DISTRIBUTED: best solo = words / window 0.753; no drop-one collapses the score.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question ratio keeps its NEGATIVE sign (more questions → low TE: confusion / clarification-seeking).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NEW unfinished ratio (trail-off '…' / abandoned segments — cognitive-load or interruption marker): solo 0.577, drop-one Δ +0.000, coef All +0.20.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ptos"/>
              </a:rPr>
              <a:t>Segments are raw ASR chunks (Whisper-style), NOT sentences: median 1.7 s, 66% end in terminal punctuation. Whisper strips fillers, so classic disfluency counts are unavailable.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365760" y="-1814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Do Audio / Text Embeddings Help? (group-level rerun)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16" name="Table 117"/>
          <p:cNvGraphicFramePr/>
          <p:nvPr/>
        </p:nvGraphicFramePr>
        <p:xfrm>
          <a:off x="502920" y="704880"/>
          <a:ext cx="8686440" cy="438912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097280"/>
                <a:gridCol w="1737360"/>
                <a:gridCol w="731520"/>
                <a:gridCol w="914400"/>
                <a:gridCol w="914400"/>
              </a:tblGrid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± 0.251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0.651 ± 0.285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0.683 ± 0.219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± 0.232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0.206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0.929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± 0.178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0.192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0.427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affect v/a/d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QDA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± 0.275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embedding (emow2v,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± 0.292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handcrafted: linguistic stats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7432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text embedding (sentiment emb, PCA)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0.652 ± 0.244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0.132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17" name="TextBox 118"/>
          <p:cNvSpPr/>
          <p:nvPr/>
        </p:nvSpPr>
        <p:spPr>
          <a:xfrm>
            <a:off x="365760" y="557784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 rerun of the embeddings question (earlier per-role numbers superseded): stream embeddings windowed onto the same 185 windows; PCA inside the nested pipeline (n_components tuned 5/10/20).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Audio: emow2v embedding loses to handcrafted affect v/a/d (0.651 vs 0.663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Text: sentiment embedding loses to handcrafted linguistic stats (0.683 vs 0.788 Overall).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Interpretable handcrafted features remain the pre-LLM recommendation.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TextBox 119"/>
          <p:cNvSpPr/>
          <p:nvPr/>
        </p:nvSpPr>
        <p:spPr>
          <a:xfrm>
            <a:off x="502920" y="512100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Answers to Research Questions &amp; Next Steps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0" name="PlaceHolder 2"/>
          <p:cNvSpPr>
            <a:spLocks noGrp="1"/>
          </p:cNvSpPr>
          <p:nvPr>
            <p:ph/>
          </p:nvPr>
        </p:nvSpPr>
        <p:spPr>
          <a:xfrm>
            <a:off x="838080" y="1825560"/>
            <a:ext cx="10513440" cy="4349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Features = linguistic (text) + audio-derived affect (valence/arousal/dominance) + speaking → a MULTIMODAL detector, not linguistic-only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With harmonized 2-annotator labels + nested CV: multimodal group TE ≈ 0.68 All / 0.70 Triads / 0.65 Dyads — statistically TIED with the prior gaze×speaking QDA (all n.s.); our detector edges triads, gaze edges dyads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Double dissociation holds: group TE ← audio affect (valence/dominance); individual engagement ← (para)linguistic (speaking + text)</a:t>
            </a:r>
            <a:br>
              <a:rPr sz="1500"/>
            </a:b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Prior baseline shown on slides 2–3 is depressed by a 60 Hz label time-stretch bug (e.g. QDA All 0.60 published → 0.67 corrected on harmonized labels)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Embeddings (openSMILE/emoW2V/sentiment, PCA) on top of base: no gain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Open: nothing survives Bonferroni vs chance (n=8–20 underpowered); labels now balanced ~49% high (was 74% skew)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28600" indent="-228600" algn="l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1-year: real-time multimodal per-window TE detector feeding adaptive VR feedback</a:t>
            </a:r>
            <a:endParaRPr lang="en-US" sz="15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5160" y="365040"/>
            <a:ext cx="1093032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Significance Depends on the Test (sig → ns → sig)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22" name="Table 3"/>
          <p:cNvGraphicFramePr/>
          <p:nvPr/>
        </p:nvGraphicFramePr>
        <p:xfrm>
          <a:off x="838080" y="1818360"/>
          <a:ext cx="10513440" cy="2303280"/>
        </p:xfrm>
        <a:graphic>
          <a:graphicData uri="http://schemas.openxmlformats.org/drawingml/2006/table">
            <a:tbl>
              <a:tblPr/>
              <a:tblGrid>
                <a:gridCol w="2102760"/>
                <a:gridCol w="1941120"/>
                <a:gridCol w="1132200"/>
                <a:gridCol w="1860120"/>
                <a:gridCol w="1860120"/>
                <a:gridCol w="1617480"/>
              </a:tblGrid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 / 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acc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uniform-dummy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 1-samp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permutation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0.002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LogReg 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0.019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0.058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0.017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0.117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0.052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QDA 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0.001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0.007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SVM 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0.006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0.000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0.083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9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NB 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0.144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0.090 ✗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0.003 ✓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23" name="TextBox 4"/>
          <p:cNvSpPr/>
          <p:nvPr/>
        </p:nvSpPr>
        <p:spPr>
          <a:xfrm>
            <a:off x="813600" y="4250520"/>
            <a:ext cx="10513440" cy="119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model selection, RAW p (Bonferroni shifts the threshold but not the pattern).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Uniform-dummy = stochastic/gameable floor (prior + our first pass). Majority = deterministic always-predict-majority. Permutation = shuffle-label null (seed-proof).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Verdict flips by method: audio-Triads &amp; gaze-Triads are significant ONLY under permutation; gaze-Dyads LOSES significance under permutation (6-feature null fits shuffled labels). Decision needed: which test do we standardize on?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228600" y="0"/>
            <a:ext cx="10513440" cy="605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200" b="1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Detector vs Priors — Singles &amp; Fusions (acc, effect size, both tests)</a:t>
            </a:r>
            <a:endParaRPr lang="en-US" sz="22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25" name="TextBox 116"/>
          <p:cNvSpPr/>
          <p:nvPr/>
        </p:nvSpPr>
        <p:spPr>
          <a:xfrm>
            <a:off x="228600" y="960120"/>
            <a:ext cx="5569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6" name="Table 117"/>
          <p:cNvGraphicFramePr/>
          <p:nvPr/>
        </p:nvGraphicFramePr>
        <p:xfrm>
          <a:off x="228600" y="1371600"/>
          <a:ext cx="5760360" cy="186408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2/2/1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(0.43)*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0.672 (0.39)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0.581 (0.17)*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GazexSpeaking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0.734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0.830 (2.30)†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 (0.54)*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 (v/a/d)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0.663 (0.57)*†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0.603 (0.03)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0.714 (0.64)*†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7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(0.46)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(0.94)*†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7" name="TextBox 118"/>
          <p:cNvSpPr/>
          <p:nvPr/>
        </p:nvSpPr>
        <p:spPr>
          <a:xfrm>
            <a:off x="6263640" y="960120"/>
            <a:ext cx="86400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4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Fusions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8" name="Table 119"/>
          <p:cNvGraphicFramePr/>
          <p:nvPr/>
        </p:nvGraphicFramePr>
        <p:xfrm>
          <a:off x="6263640" y="1371600"/>
          <a:ext cx="5760360" cy="2174760"/>
        </p:xfrm>
        <a:graphic>
          <a:graphicData uri="http://schemas.openxmlformats.org/drawingml/2006/table">
            <a:tbl>
              <a:tblPr/>
              <a:tblGrid>
                <a:gridCol w="1600200"/>
                <a:gridCol w="457200"/>
                <a:gridCol w="1234440"/>
                <a:gridCol w="1234440"/>
                <a:gridCol w="1234440"/>
              </a:tblGrid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#f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All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5/5/4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0.673 (0.63)*†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0.625 (0.16)*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0.709 (0.65)*†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0.746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0.810 (1.50)*†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0.670 (0.46)*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audio+linguistic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0.743 (0.93)*†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0.639 (0.25)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0.784 (0.83)*†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ling+AIxVR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9/9/8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0.741 (0.86)*†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0.656 (0.27)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(0.91)*†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13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(1.33)*†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0.842 (2.81)*†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0.758 (0.72)*†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68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audio+ling+GxS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16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(1.20)*†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0.786 (1.41)*†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0.757 (0.75)*†</a:t>
                      </a:r>
                      <a:endParaRPr lang="en-US" sz="9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29" name="TextBox 120"/>
          <p:cNvSpPr/>
          <p:nvPr/>
        </p:nvSpPr>
        <p:spPr>
          <a:xfrm>
            <a:off x="228600" y="4297680"/>
            <a:ext cx="11612160" cy="155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Cell = accuracy (Cohen's d vs majority floor); * = permutation p&lt;.05, † = one-sample t-test vs majority p&lt;.05. #f = features (All/Dyads/Triads where split-specific). 185 group-windows, clean 2-annotator labels, nested LOSO.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Text carries the signal: linguistic best base set (All/Triads); ling+GxS best fusion (Dyads 0.842 — only Dyads detector with both markers); Triads best = audio+linguistic (gaze-free).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AIxVR dominated everywhere incl. ling+AIxVR ≤ linguistic alone. Full stats: c2_paper_table.csv.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5200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Raw Acoustics (openSMILE) vs Affect (v/a/d)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1" name="Table 3"/>
          <p:cNvGraphicFramePr/>
          <p:nvPr/>
        </p:nvGraphicFramePr>
        <p:xfrm>
          <a:off x="560880" y="1627920"/>
          <a:ext cx="10423800" cy="256032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2011680"/>
                <a:gridCol w="2377440"/>
                <a:gridCol w="2743200"/>
              </a:tblGrid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Target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(3)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openSMILE (88)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v/a/d + openSMILE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Group 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6576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Individual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4"/>
          <p:cNvSpPr/>
          <p:nvPr/>
        </p:nvSpPr>
        <p:spPr>
          <a:xfrm>
            <a:off x="457200" y="4206240"/>
            <a:ext cx="10971000" cy="138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Addresses the objection that v/a/d is affect ESTIMATED from audio, not a raw acoustic feature.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openSMILE = 88 interpretable eGeMAPS functionals (F0, loudness, jitter, shimmer, MFCC, spectral flux ...) — raw acoustics, not embeddings.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Result: raw acoustics do NOT beat the affect estimate for group TE (v/a/d 0.69–0.72 &gt; openSMILE 0.57–0.62 across all splits); combining them does not help.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Only individual-All sees a small gain from adding openSMILE (0.64 vs 0.61). 88 features on ~20 sessions also risks overfitting.</a:t>
            </a:r>
            <a:br>
              <a:rPr sz="1200"/>
            </a:b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Takeaway: the compact 3-dim affect (v/a/d) is the stronger, more parsimonious audio representation — even raw acoustics don't outperform it.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Box 131"/>
          <p:cNvSpPr/>
          <p:nvPr/>
        </p:nvSpPr>
        <p:spPr>
          <a:xfrm>
            <a:off x="365760" y="6309360"/>
            <a:ext cx="1142856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Canonical group-level rerun (185 windows, next slide): openSMILE still loses — best (PCA-tuned) 0.598/0.668/0.540 (All/D/T) vs audio v/a/d 0.663/0.603/0.714. In-CV SelectKBest (k tuned 1–88, log grid): 0.602/0.692/0.602 — selection doesn't rescue raw acoustics either; picks converge on loudness/spectral variability (see Extended Feature Sets slide).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229680" y="4716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Extended Feature Sets — Linguistic &amp; Raw Acoustics (canonical protocol)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35" name="Table 126"/>
          <p:cNvGraphicFramePr/>
          <p:nvPr/>
        </p:nvGraphicFramePr>
        <p:xfrm>
          <a:off x="298440" y="1398240"/>
          <a:ext cx="9235080" cy="4521240"/>
        </p:xfrm>
        <a:graphic>
          <a:graphicData uri="http://schemas.openxmlformats.org/drawingml/2006/table">
            <a:tbl>
              <a:tblPr/>
              <a:tblGrid>
                <a:gridCol w="914400"/>
                <a:gridCol w="2926080"/>
                <a:gridCol w="1097280"/>
                <a:gridCol w="1737360"/>
                <a:gridCol w="731520"/>
                <a:gridCol w="914400"/>
                <a:gridCol w="914400"/>
              </a:tblGrid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Split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Feature set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Best model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 ± SD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perm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10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 t-test</a:t>
                      </a:r>
                      <a:endParaRPr lang="en-US" sz="10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0.448 ± 0.325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0.771 ± 0.210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&lt;.001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0.576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0.598 ± 0.255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0.098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Overall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SVM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0.609 ± 0.188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0.045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0.560 ± 0.347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0.680 ± 0.183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0.658 ± 0.205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0.671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0.414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0.668 ± 0.216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0.389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0.373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0.692 ± 0.169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0.148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Dyads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0.664 ± 0.196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0.887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majority baseline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0.572 ± 0.321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—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linguistic (7 segment stats)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0.766 ± 0.243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0.94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0.008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(88 eGeMAPS)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0.567 ± 0.250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0.050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PCA (tuned 5/10/20)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0.540 ± 0.231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0.123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0.972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openSMILE + SelectKBest (k tuned 1–88)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LogReg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0.602 ± 0.212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0.30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0.013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0.316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237600"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Triads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audio(v/a/d)+openSMILE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NB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0.607 ± 0.272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0.26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0.007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US" sz="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0.395</a:t>
                      </a:r>
                      <a:endParaRPr lang="en-US" sz="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136" name="TextBox 127"/>
          <p:cNvSpPr/>
          <p:nvPr/>
        </p:nvSpPr>
        <p:spPr>
          <a:xfrm>
            <a:off x="228960" y="5919120"/>
            <a:ext cx="114296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Linguistic set (7 surface transcript stats, v2) on the SAME 185-window protocol: Overall 0.771 ± 0.210 (d=1.20, both tests sig) — strongest single pre-LLM modality Overall.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openSMILE raw acoustics fail at group level under every reduction tried INSIDE the nested pipeline (no leakage): PCA (tuned 5/10/20) 0.598/0.668/0.540, SelectKBest (k tuned on a log grid 1–88) 0.602/0.692/0.602 — derived affect (v/a/d) and text stay ahead.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little acoustic signal exists is VARIABILITY, not level: selection picks k≈4 in most folds (Overall 15/20, Triads 9/12) and converges on mfcc1V/spectralFlux/loudness stddevNorm + F0/loudness range — 'lively speech dynamics', the acoustic cousin of word_count. Dyads unstable (k 4–32, n=8). PCA probe agrees: Overall picks the 5-component grid floor 20/20.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9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Full ranking: d4_opensmile_ranking.csv; per-fold picks: c2_selection.csv. QDA excluded on high-dim sets (singular covariance).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128"/>
          <p:cNvSpPr/>
          <p:nvPr/>
        </p:nvSpPr>
        <p:spPr>
          <a:xfrm>
            <a:off x="9533520" y="2971800"/>
            <a:ext cx="265860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8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Group-level, 185 floorlevel windows, clean 2-annotator labels, nested LOSO; d = Cohen's d vs majority floor; p perm = 300 permutations; p t-test = one-sample t vs majority. Source: c2_paper_table.csv.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Rubric Prompt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(operationalizing the TE schema)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39" name="TextBox 3"/>
          <p:cNvSpPr/>
          <p:nvPr/>
        </p:nvSpPr>
        <p:spPr>
          <a:xfrm>
            <a:off x="472320" y="2092320"/>
            <a:ext cx="11245320" cy="224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SYSTEM (rubric, verbatim from the study's coding schema):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the TASK ENGAGEMENT of a group's discussion in a 60 s window of a collaborative VR learning task (German transcript, speakers tagged [blue]/[green]/[red]).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LOW — silence / no cognitive interaction; OR talk WITHOUT content engagement (off-topic).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MEDIUM — task discussed SUPERFICIALLY: repeating the task, opinions/experiences without reasoning, depth, or connections.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HIGH — ELABORATE: prior knowledge, making connections, hypotheticals, out-of-the-box.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Rate 0.0–1.0 on 4 axes:  task_relevance · content_depth · reasoning_present · connecting_ideas. Then te_continuous (0–1) and predicted_level (low/medium/high).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Output: JSON only — {"task_relevance":_, "content_depth":_, "reasoning_present":_, "connecting_ideas":_, "te_continuous":_, "predicted_level":"low|medium|high"}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400" b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USER:  Transcript:\n[blue] … [green] … [red] …   (the window's diarized turns, time-ordered)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Model: local Qwen3.6-27B, temperature per HF (think: 1.0 / non-think: 0.7), seed 42, JSON-forced. One call per window (~185). Binarize te_continuous at 0.5 for the high/low prediction.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Operationalizing the TE Rubric with a </a:t>
            </a:r>
            <a:br>
              <a:rPr sz="4400"/>
            </a:b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Local LLM (zero-shot + features)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1" name="Table 3"/>
          <p:cNvGraphicFramePr/>
          <p:nvPr/>
        </p:nvGraphicFramePr>
        <p:xfrm>
          <a:off x="838080" y="1950120"/>
          <a:ext cx="9783720" cy="16920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1828800"/>
                <a:gridCol w="1737360"/>
                <a:gridCol w="1097280"/>
                <a:gridCol w="1188720"/>
                <a:gridCol w="914400"/>
                <a:gridCol w="1188720"/>
              </a:tblGrid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Majority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zero-shot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 markers (think/nothink)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BERT (text)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Prior 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Audio+Gaze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 / 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 / 0.76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1148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 / 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</a:t>
                      </a: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 / 0.82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2" name="TextBox 4"/>
          <p:cNvSpPr/>
          <p:nvPr/>
        </p:nvSpPr>
        <p:spPr>
          <a:xfrm>
            <a:off x="838080" y="3871080"/>
            <a:ext cx="9782280" cy="229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Idea: the TE coding schema (Low/Med/High markers) IS a set of linguistic criteria — operationalize it directly with an LLM instead of generic embeddings. </a:t>
            </a:r>
            <a:br>
              <a:rPr sz="1100"/>
            </a:b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Local Qwen3.6-27B (GDPR: on-prem, German transcripts), 60 s group-windows, clean 2-annotator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(a) Zero-shot — rubric + transcript -&gt; TE level, NO training, NO gaze: ~0.74–0.76 All, significant every split (permutation p ≈ .0005).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Matches the best multimodal fusion (0.75 All), beats audio alone (0.66). Think and non-think near-identical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(b) Marker features — 4 rubric axes (task_relevance, content_depth, reasoning, connecting_ideas) </a:t>
            </a:r>
            <a:br>
              <a:rPr sz="1100"/>
            </a:br>
            <a:r>
              <a:rPr lang="de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     </a:t>
            </a: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-&gt; same nested LOSO panel: thinking mode All 0.81 / Triads 0.84 — the highest of ANY method/modality here, and above non-think (0.76 / 0.82).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Generic German BERT (gbert, frozen embeddings, no rubric) ties it (0.74–0.77) — the signal lives in the text; the rubric makes it training-free AND interpretable (per-axis scores).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br>
              <a:rPr sz="1100"/>
            </a:b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group-level, nested LOSO + permutation. Two LLM passes reported (think / non-think); thinking helps the marker features, not zero-shot. NB: Qwen3.6 thinking-EFFORT levels (low/med) are inert on ollama — only on/off differ.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LLM Markers — Worked Examples (Low / Medium / High)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4" name="Table 3"/>
          <p:cNvGraphicFramePr/>
          <p:nvPr/>
        </p:nvGraphicFramePr>
        <p:xfrm>
          <a:off x="838080" y="2011680"/>
          <a:ext cx="9966600" cy="2241360"/>
        </p:xfrm>
        <a:graphic>
          <a:graphicData uri="http://schemas.openxmlformats.org/drawingml/2006/table">
            <a:tbl>
              <a:tblPr/>
              <a:tblGrid>
                <a:gridCol w="822960"/>
                <a:gridCol w="4572000"/>
                <a:gridCol w="914400"/>
                <a:gridCol w="822960"/>
                <a:gridCol w="822960"/>
                <a:gridCol w="914400"/>
                <a:gridCol w="640080"/>
                <a:gridCol w="457200"/>
              </a:tblGrid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Level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Transcript (excerpt)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task_rel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depth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reason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connect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y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Low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[red] Aber Wolfgang hat vorher gerade schon seinen typischen Wolfgang. [red] Weißt du, ich konnte gar nicht noch mal so... [green] Welchen? [red] Irge…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Medium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okay [red] Wollen wir einfach anfangen mit Grundschul? [red] Ja, gerne. [blue] Ich muss sagen, also ne, [blue] du hast ja auch bei Lehrplan Pl…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0.35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32004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High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[green] um alles auszubauen, dann hast du immer wieder diese Schwierigkeiten, das was wir bei unserem Unterrichtsbeispiel hatten, von letzter Woche [g…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5" name="TextBox 4"/>
          <p:cNvSpPr/>
          <p:nvPr/>
        </p:nvSpPr>
        <p:spPr>
          <a:xfrm>
            <a:off x="838080" y="4573440"/>
            <a:ext cx="11428200" cy="82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 4 axes ARE the interpretable output: e.g. Low has task_relevance≈0.1 (off-task hand-gesture chatter); High scores high on all four (reasoning + connecting prior knowledge).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These per-axis scores are the features fed to the panel (idea (b)); te_continuous&gt;0.5 is the zero-shot prediction (idea (a)).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• Medium is the ambiguous band where annotators disagree (weak κ) — kept here, binarized at 0.5.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Best Detector per Interaction Size (gaze / audio × LLM fusion)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graphicFrame>
        <p:nvGraphicFramePr>
          <p:cNvPr id="147" name="Table 2"/>
          <p:cNvGraphicFramePr/>
          <p:nvPr/>
        </p:nvGraphicFramePr>
        <p:xfrm>
          <a:off x="770400" y="2094120"/>
          <a:ext cx="9692280" cy="1828800"/>
        </p:xfrm>
        <a:graphic>
          <a:graphicData uri="http://schemas.openxmlformats.org/drawingml/2006/table">
            <a:tbl>
              <a:tblPr/>
              <a:tblGrid>
                <a:gridCol w="1188720"/>
                <a:gridCol w="1554480"/>
                <a:gridCol w="1554480"/>
                <a:gridCol w="1554480"/>
                <a:gridCol w="1097280"/>
                <a:gridCol w="27432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Split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AIxVR+LLM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Best (perm / t-test)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0.860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 0.869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 0.864  (0.003 / &lt;.001)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48" name="TextBox 3"/>
          <p:cNvSpPr/>
          <p:nvPr/>
        </p:nvSpPr>
        <p:spPr>
          <a:xfrm>
            <a:off x="365760" y="4206600"/>
            <a:ext cx="11428200" cy="310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Per-split best detector (nested LOSO + permutation + one-sample t-test, clean 2-annotator labels, 185 group-windows):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Overall &amp; Dyads → Gaze(GazexSpeaking)+LLM: 0.860 / 0.869 (both perm≈.003, t-test&lt;.001). Gaze and rubric-text are complementary.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 → Audio+LLM 0.864 (gaze-free) BEATS every gaze fusion (Gaze+LLM 0.826). Even LLM alone (0.836) tops gaze fusion here.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WHY: in dyads the gaze target is unambiguous (one partner) so gaze-on-speaker is informative; in triads gaze diffuses (2 targets, mutual gaze rare) and participants focus on speaking, not looking — audio/text carry the signal. See mechanism slide.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AIxVR gaze prior is weak throughout (AIxVR+LLM only competitive on Triads, where any gaze ≈ noise). Triple gaze+vad+LLM in appendix.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Deployment Recommendation by Available Hardware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1" name="Table 3"/>
          <p:cNvGraphicFramePr/>
          <p:nvPr/>
        </p:nvGraphicFramePr>
        <p:xfrm>
          <a:off x="844920" y="2094120"/>
          <a:ext cx="8960760" cy="1828800"/>
        </p:xfrm>
        <a:graphic>
          <a:graphicData uri="http://schemas.openxmlformats.org/drawingml/2006/table">
            <a:tbl>
              <a:tblPr/>
              <a:tblGrid>
                <a:gridCol w="2743200"/>
                <a:gridCol w="1828800"/>
                <a:gridCol w="1463040"/>
                <a:gridCol w="1463040"/>
                <a:gridCol w="146304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Hardware available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Detector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Overall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Dyads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Triads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Eye-tracker (+ mic)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Gaze+LLM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Microphone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0.733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0.864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Transcript only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LLM rubric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0.753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</a:tbl>
          </a:graphicData>
        </a:graphic>
      </p:graphicFrame>
      <p:sp>
        <p:nvSpPr>
          <p:cNvPr id="152" name="TextBox 4"/>
          <p:cNvSpPr/>
          <p:nvPr/>
        </p:nvSpPr>
        <p:spPr>
          <a:xfrm>
            <a:off x="365760" y="4343400"/>
            <a:ext cx="11428200" cy="9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Practical takeaway — best deployable detector scales with sensing, not lab gear: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With an eye-tracker → Gaze+LLM: best Overall (0.860) and Dyads (0.869).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Microphone only (no eye-tracker) → Audio+LLM: best Triads (0.864), and within ~0.05 of the eye-tracker rig Overall.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Nothing but a transcript → the training-free LLM rubric alone already reaches 0.81 Overall / 0.84 Triads.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All configs use the same local LLM rubric (Qwen3.6-27B, zero-shot); only the sensor-derived channel changes. Nested LOSO + permutation + t-test, clean labels.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5"/>
          <p:cNvSpPr/>
          <p:nvPr/>
        </p:nvSpPr>
        <p:spPr>
          <a:xfrm>
            <a:off x="457200" y="5486400"/>
            <a:ext cx="11428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Bold = recommended detector for that hardware tier. Accuracies from b1_fusion_priors_llm.csv (group-level, 185 windows).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Why Gaze Helps Dyads but Not Triads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457200" y="1600200"/>
            <a:ext cx="11245320" cy="457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Empirical pattern (fusion table): gaze is decisive for DYADS, useless for TRIADS.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Dyads: Gaze+LLM 0.869  &gt;  Audio+LLM 0.733  &gt;  LLM 0.753 — gaze adds a lot.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Triads: Audio+LLM 0.864  &gt;  LLM 0.836  &gt;  Gaze+LLM 0.826 — gaze adds nothing (even hurts vs text alone).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Gaze-alone: Dyads 0.83 (sig) vs Triads 0.70 (weakest prior).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Interpretation — the gaze-on-speaker signal degrades with group size: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DYAD the gaze target is unambiguous: there is exactly one other person, so 'looking at the speaker' is a clean, informative cue.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In a TRIAD gaze diffuses across two possible targets; mutual gaze is rarer and turn-taking is faster. Participants engage by TALKING, not by looking — so eye-gaze carries little task-engagement signal.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  • Speech affect (v/a/d) and rubric-text, by contrast, are unaffected by group size → Audio+LLM wins triads with no eye-tracker at all.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3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Consequence for deployment: eye-tracking pays off only for pairs; for larger groups a microphone + LLM rubric is both cheaper and more accurate.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Aptos Display"/>
              </a:rPr>
              <a:t>Appendix — Robustness to Annotation Rate (60 Hz vs 90 Hz)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Aptos Display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0640" cy="3975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 defTabSz="914400">
              <a:lnSpc>
                <a:spcPct val="90000"/>
              </a:lnSpc>
              <a:spcBef>
                <a:spcPts val="1001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graphicFrame>
        <p:nvGraphicFramePr>
          <p:cNvPr id="159" name="Table 3"/>
          <p:cNvGraphicFramePr/>
          <p:nvPr/>
        </p:nvGraphicFramePr>
        <p:xfrm>
          <a:off x="518040" y="1865520"/>
          <a:ext cx="1014948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371600"/>
                <a:gridCol w="1554480"/>
                <a:gridCol w="173736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Subset (n groups)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GxS+LLM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</a:rPr>
                        <a:t>audio+LLM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5608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 (12)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0.656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0.602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0.796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 (8)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0.704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0.806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0.801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0.832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60Hz-T (10)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0.669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0.818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0.821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0.840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CCD2D8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90Hz-D (6)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0.578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0.780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0.760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0.774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en-DE" sz="11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ptos"/>
                        </a:rPr>
                        <a:t>0.728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7EAEC"/>
                    </a:solidFill>
                  </a:tcPr>
                </a:tc>
              </a:tr>
            </a:tbl>
          </a:graphicData>
        </a:graphic>
      </p:graphicFrame>
      <p:sp>
        <p:nvSpPr>
          <p:cNvPr id="160" name="TextBox 4"/>
          <p:cNvSpPr/>
          <p:nvPr/>
        </p:nvSpPr>
        <p:spPr>
          <a:xfrm>
            <a:off x="457560" y="4151160"/>
            <a:ext cx="11428200" cy="246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Split groups by native annotation rate (12× 60 Hz / 8× 90 Hz) to check for a residual of the time-stretch label bug.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CONFOUND: 60 Hz groups are mostly triads (10/12), 90 Hz mostly dyads (6/8) — rate cannot be separated from group size here, so read cautiously.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The LLM rubric detector is RATE- AND TYPE-INVARIANT: 0.81 / 0.80 / 0.82 / 0.76 across all four cells (bold column). The text signal is untouched by annotation rate.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Gaze (GxS) tracks group TYPE, not rate (strong on 90 Hz≈dyads 0.81, weak on 60 Hz≈triads 0.60); audio is weakest and fails on dyads (90 Hz-D 0.58, ns).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DE" sz="11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Conclusion: under clean 2-annotator labels there is no evidence of a rate artifact; the apparent 60/90 gap in gaze is the dyad/triad confound.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Box 5"/>
          <p:cNvSpPr/>
          <p:nvPr/>
        </p:nvSpPr>
        <p:spPr>
          <a:xfrm>
            <a:off x="457560" y="5486400"/>
            <a:ext cx="1142820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DE" sz="900" b="0" i="1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Group-level nested LOSO; per-cell permutation + t-test in b2_rate_split.csv.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 pitchFamily="0" charset="1"/>
        <a:ea typeface=""/>
        <a:cs typeface=""/>
      </a:majorFont>
      <a:minorFont>
        <a:latin typeface="Aptos" panose="020B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16843</TotalTime>
  <Application>LibreOffice/26.2.4.2$Linux_X86_64 LibreOffice_project/3346a99e6b841765b75a9b29714a5b95c6761ce3</Application>
  <AppVersion>15.0000</AppVersion>
  <Words>3837</Words>
  <Paragraphs>640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2026-03-02T17:10:27Z</dcterms:created>
  <dc:creator/>
  <dc:description/>
  <dc:language>en-US</dc:language>
  <cp:lastModifiedBy/>
  <dcterms:modified xsi:type="dcterms:W3CDTF">2026-07-10T12:46:02Z</dcterms:modified>
  <cp:revision>17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26</vt:i4>
  </property>
</Properties>
</file>