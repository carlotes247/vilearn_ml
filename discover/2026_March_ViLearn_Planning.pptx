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1" r:id="rId19"/>
    <p:sldId id="272" r:id="rId20"/>
    <p:sldId id="273" r:id="rId21"/>
    <p:sldId id="274" r:id="rId22"/>
    <p:sldId id="266" r:id="rId13"/>
    <p:sldId id="267" r:id="rId14"/>
    <p:sldId id="268" r:id="rId15"/>
    <p:sldId id="269" r:id="rId16"/>
    <p:sldId id="270" r:id="rId17"/>
    <p:sldId id="275" r:id="rId23"/>
    <p:sldId id="276" r:id="rId24"/>
    <p:sldId id="277" r:id="rId25"/>
    <p:sldId id="278" r:id="rId26"/>
    <p:sldId id="279" r:id="rId27"/>
    <p:sldId id="280" r:id="rId30"/>
    <p:sldId id="281" r:id="rId3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presProps" Target="presProp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5.xml"/><Relationship Id="rId30" Type="http://schemas.openxmlformats.org/officeDocument/2006/relationships/slide" Target="slides/slide25.xml"/><Relationship Id="rId31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3EB3BD-33FE-4ACE-8802-A181BF3A69D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A30745-60FE-4995-8768-1496A995D16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53E541-7FB9-4B9C-8C80-8CF10F6BAD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91AE2D-E87E-49A1-9685-E6D4618F9CE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D86BC6-D45E-4BF8-AAD1-AD2C42A0F71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DCDF07-09AC-45CD-B479-9F3D962E00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B84BFA-AC1B-4C4E-9C43-07A6D81DBE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18ED06-906A-4C69-B864-FE3169E10B2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777850-EF6A-480D-B55C-F53BA984BE3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F1F965-296B-4E7C-A8AF-123D505866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737D2F-ED1A-4036-B7FF-34FB1FBCEAE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4" descr="A table with number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261360" y="1180800"/>
            <a:ext cx="10820160" cy="242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-1285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Results comparison 2026-05-26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749520"/>
            <a:ext cx="10515240" cy="584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ICMI results (submitted, pending review) - ANOVA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Content Placeholder 2"/>
          <p:cNvSpPr/>
          <p:nvPr/>
        </p:nvSpPr>
        <p:spPr>
          <a:xfrm>
            <a:off x="566280" y="3697560"/>
            <a:ext cx="105152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New results – Multiple Paired t-tests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5"/>
          <p:cNvGraphicFramePr/>
          <p:nvPr/>
        </p:nvGraphicFramePr>
        <p:xfrm>
          <a:off x="565200" y="4157280"/>
          <a:ext cx="10663200" cy="2288520"/>
        </p:xfrm>
        <a:graphic>
          <a:graphicData uri="http://schemas.openxmlformats.org/drawingml/2006/table">
            <a:tbl>
              <a:tblPr/>
              <a:tblGrid>
                <a:gridCol w="1834560"/>
                <a:gridCol w="1471320"/>
                <a:gridCol w="1471320"/>
                <a:gridCol w="1471320"/>
                <a:gridCol w="1471320"/>
                <a:gridCol w="1471320"/>
                <a:gridCol w="1471320"/>
              </a:tblGrid>
              <a:tr h="62784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Majority baseline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0.60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0.54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0.52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0.83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0.56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0.73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Naive Bayes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0.72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0.70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0.71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0.77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0.65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0.73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Rectangle 7"/>
          <p:cNvSpPr/>
          <p:nvPr/>
        </p:nvSpPr>
        <p:spPr>
          <a:xfrm>
            <a:off x="2334240" y="238680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Rectangle 8"/>
          <p:cNvSpPr/>
          <p:nvPr/>
        </p:nvSpPr>
        <p:spPr>
          <a:xfrm>
            <a:off x="2334240" y="328896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/>
          <p:cNvSpPr/>
          <p:nvPr/>
        </p:nvSpPr>
        <p:spPr>
          <a:xfrm>
            <a:off x="5329440" y="5504760"/>
            <a:ext cx="2925000" cy="7398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0"/>
          <p:cNvSpPr/>
          <p:nvPr/>
        </p:nvSpPr>
        <p:spPr>
          <a:xfrm>
            <a:off x="8255160" y="547884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1"/>
          <p:cNvSpPr/>
          <p:nvPr/>
        </p:nvSpPr>
        <p:spPr>
          <a:xfrm>
            <a:off x="8255160" y="619668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365760" y="6035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Redone on CLEAN 2-annotator labels, group-level (185 windows), scaled nested CV (was bugged labels + uniform/seed baseline). Majority baseline = deterministic always-predict-majority. Significance is now METHOD-DEPENDENT (uniform vs majority vs permutation give different verdicts) — see 'Methodology Review' slides; no fixed red boxes.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800" cy="297504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43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6480" cy="37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27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Modalities (ablation buckets)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Modality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Features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(Para)linguistic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text: word_count, words/sec, avg_word_length, question/statement_rate, sentiment;  speaking: speaking_role, speaking_seconds, segment_count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Audio (affect)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arousal, dominance, valence  (group-level audio emotion)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Multimodal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(para)linguistic + audio  (= our main detector)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(+ embeddings)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optional: openSMILE + emoW2V + sentiment embeddings, PCA (degrade slightly)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Audio is group-shared (one group.audio.wav); the transcript is diarized from it. Speaking attributes the shared signal to each role -&gt; folded into (para)linguistic. v/a/d derived from audio -&gt; audio. Ablation: (para)linguistic-only vs audio-only vs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Modality Ablation — what each modality detects (60 s, LOSO)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9144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Target (split)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Multimodal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Audio-only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(Para)ling-only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/>
              <a:t>Best model per cell, accuracy. DOUBLE DISSOCIATION: group task engagement is carried by audio affect (valence/dominance) - text adds nothing; individual engagement is carried by (para)linguistic (speaking + word rate) - group-shared audio gives no per-role signal. Combining modalities = the dominant one, no synergy.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Changed Since Last Week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9601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384048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Last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Now (harmonized)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helen only · 74% high (skew)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2-annotator mean · ~49% (balanced)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vs 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beats ✓ (d=0.92–1.35)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n.s. — matches prior (0.73)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/>
              <a:t>Two artifacts removed — they are independent:</a:t>
            </a:r>
          </a:p>
          <a:p>
            <a:pPr lvl="1"/>
            <a:r>
              <a:rPr sz="1200"/>
              <a:t>(1) Our labels were single-annotator + 74% high → majority baseline 0.74 inflated last week's accuracy. Adopting the published 2-annotator mean balances to ~49% → honest 0.68.</a:t>
            </a:r>
          </a:p>
          <a:p>
            <a:pPr lvl="1"/>
            <a:r>
              <a:rPr sz="1200"/>
              <a:t>(2) The prior baseline itself was computed on time-stretch-bugged labels (60 Hz averaging error, 13/20 groups). Re-ran it on clean labels under identical nested CV.</a:t>
            </a:r>
          </a:p>
          <a:p>
            <a:pPr lvl="1"/>
            <a:r>
              <a:rPr sz="1200"/>
              <a:t>Net: 0.68, statistically tied with the prior (neither wins); double dissociation + gaze-free parity hold. Better surfaced now than at review.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Prior Baseline — Corrected for the Label Bug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3108960"/>
                <a:gridCol w="27432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Published (slides 2–3)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· unscaled (prior setup)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· scaled (our pipeline)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All 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Dyads (8)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Triads 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49039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Same QDA, same gaze features, same nested CV (adopted from the prior) in all columns — only the labels and feature scaling change.</a:t>
            </a:r>
          </a:p>
          <a:p>
            <a:r>
              <a:rPr sz="1300"/>
              <a:t>Label fix alone (col 2, unscaled = the prior's published SIMPLE setup): 0.60 → 0.67 All. The 60 Hz time-stretch bug depressed published numbers ~0.05–0.08 (13/20 groups; the 7 pure-90 Hz groups replicate exactly).</a:t>
            </a:r>
          </a:p>
          <a:p>
            <a:r>
              <a:rPr sz="1300"/>
              <a:t>Cols 2 → 3 differ only by feature scaling (StandardScaler): the prior's published runs were unscaled; our detector pipeline scales. Col 3 is what the results slide compares against.</a:t>
            </a:r>
          </a:p>
          <a:p>
            <a:r>
              <a:rPr sz="1300"/>
              <a:t>None reach significance vs chance after Bonferroni (d up to 1.18, but n = 8–20 underpowered).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3" name="Table 1"/>
          <p:cNvGraphicFramePr/>
          <p:nvPr/>
        </p:nvGraphicFramePr>
        <p:xfrm>
          <a:off x="365760" y="1371600"/>
          <a:ext cx="104238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737360"/>
                <a:gridCol w="731520"/>
                <a:gridCol w="2194560"/>
                <a:gridCol w="256032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Split (folds)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Best model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Acc (mean±SD)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F1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baseline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prior GazexSpeak QDA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Dyads (8)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Decision Tree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0.65 ± 0.11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(d=0.63)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0.77; d=−0.58)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Triads (12)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QDA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0.70 ± 0.20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(d=0.54)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0.65; d=+0.36)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All (20)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Logistic Regression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0.68 ± 0.18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0.73; d=−0.36)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4" name="TextBox 2"/>
          <p:cNvSpPr/>
          <p:nvPr/>
        </p:nvSpPr>
        <p:spPr>
          <a:xfrm>
            <a:off x="365760" y="2834640"/>
            <a:ext cx="10423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Per-fold LOSO accuracy; paired t-test (Bonferroni) + Cohen's d. Harmonized 2-annotator labels + identical nested CV. Our detector and the prior gaze QDA are statistically indistinguishable on every split (all n.s.) — we edge triads, the prior edges dyads. The prior QDA is itself n.s. vs chance after Bonferroni too (d up to 1.18, but n=8–20 underpowered): nothing here — ours or prior — survives correction. The earlier 'beats prior' result was a label-distribution artifact.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365760" y="27432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 Detection: Results + Significance (vs prior detector)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57200" y="61264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Fair comparison: prior gaze features (185 floorlevel windows) re-scored with our harmonized 2-annotator labels under identical LOSO nested CV; our detector uses our pipeline windows (197). Counts differ from tail-window trimming; tests paired by group (n = 20 / 8 / 12).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60 s Windows (Granularity)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457200" y="2560320"/>
            <a:ext cx="948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Aggregating to 60 s removes noise -&gt; large gain. 1 Hz frames and segment-based too noisy. 60 s also matches the prior-work window size.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98"/>
          <p:cNvGraphicFramePr>
            <a:graphicFrameLocks noGrp="1"/>
          </p:cNvGraphicFramePr>
          <p:nvPr/>
        </p:nvGraphicFramePr>
        <p:xfrm>
          <a:off x="457200" y="1463040"/>
          <a:ext cx="99669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32918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Granularity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Group TE acc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Note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Transcript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per-utterance, noisy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60 s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best — matches prior work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0" name="TextBox 99"/>
          <p:cNvSpPr txBox="1"/>
          <p:nvPr/>
        </p:nvSpPr>
        <p:spPr>
          <a:xfrm>
            <a:off x="4572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Best model per granularity (group TE, LOSO). Coarser aggregation → less noise; 60 s wins. (1 Hz frame omitted — not recomputed on harmonized labels.)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Task Engagement? (feature contribution)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TE: group affect dominates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valence (positive -&gt; high TE), dominance (negative), arousal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Individual engagement: more distributed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own speaking activity + word_count / words_per_second + affect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Method: standardized logistic-regression coefficients + Random-Forest importance (LOSO)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features explain individual engagement more than group TE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1" name="Table 100"/>
          <p:cNvGraphicFramePr>
            <a:graphicFrameLocks noGrp="1"/>
          </p:cNvGraphicFramePr>
          <p:nvPr/>
        </p:nvGraphicFramePr>
        <p:xfrm>
          <a:off x="457200" y="3749039"/>
          <a:ext cx="78638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23774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Feature (Group 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LogReg coef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RF importance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dominance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0.18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valence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question_rate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arousal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Group TE driven by audio affect (dominance −, valence +); higher question rate → lower TE. Individual engagement: speaking activity + word-rate + text.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Tested base features + openSMILE + emoW2V + sentiment embeddings (1880 dims -&gt; PCA)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improvement - embeddings on top of base features hurt cross-session F1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High-dimensional streams add noise that degrades leave-one-session-out generalization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keep the detector light - simple interpretable features win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457200" y="3749039"/>
          <a:ext cx="94183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468880"/>
                <a:gridCol w="16459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Model (Group TE, 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+Embeddings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Delta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-0.13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Embeddings (openSMILE + emoW2V + sentiment, PCA) added on top of base features. Net degradation — best base 0.68 &gt; best +embeddings 0.63. Added dimensions = noise (harmonized 2-annotator labels).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sz="1500"/>
              <a:t>Features = linguistic (text) + audio-derived affect (valence/arousal/dominance) + speaking → a MULTIMODAL detector, not linguistic-only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r>
              <a:rPr sz="1500"/>
              <a:t>With harmonized 2-annotator labels + nested CV: multimodal group TE ≈ 0.68 All / 0.70 Triads / 0.65 Dyads — statistically TIED with the prior gaze×speaking QDA (all n.s.); our detector edges triads, gaze edges dyads</a:t>
            </a:r>
          </a:p>
          <a:p>
            <a:r>
              <a:rPr sz="1500"/>
              <a:t>Double dissociation holds: group TE ← audio affect (valence/dominance); individual engagement ← (para)linguistic (speaking + text)</a:t>
            </a:r>
          </a:p>
          <a:p>
            <a:r>
              <a:rPr sz="1500"/>
              <a:t>Prior baseline shown on slides 2–3 is depressed by a 60 Hz label time-stretch bug (e.g. QDA All 0.60 published → 0.67 corrected on harmonized labels)</a:t>
            </a:r>
          </a:p>
          <a:p>
            <a:r>
              <a:rPr sz="1500"/>
              <a:t>Embeddings (openSMILE/emoW2V/sentiment, PCA) on top of base: no gain</a:t>
            </a:r>
          </a:p>
          <a:p>
            <a:r>
              <a:rPr sz="1500"/>
              <a:t>Open: nothing survives Bonferroni vs chance (n=8–20 underpowered); labels now balanced ~49% high (was 74% skew)</a:t>
            </a:r>
          </a:p>
          <a:p>
            <a:r>
              <a:rPr sz="1500"/>
              <a:t>1-year: real-time multimodal per-window TE detector feeding adaptive VR feedback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Significance Depends on the Test (sig → ns → sig)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8872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1280160"/>
                <a:gridCol w="210312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/>
                        <a:t>Detector /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best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majority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uniform-dummy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majority 1-samp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permutation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SVM 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0.017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0.002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LogReg 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0.019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0.058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QDA 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0.117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0.052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0.003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QDA 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0.006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0.001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SVM 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0.006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0.000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0.083 ✗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NB 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0.144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0.090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0.003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840480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All group-level, nested model selection, RAW p (Bonferroni shifts the threshold but not the pattern).</a:t>
            </a:r>
          </a:p>
          <a:p>
            <a:r>
              <a:rPr sz="1200"/>
              <a:t>Uniform-dummy = stochastic/gameable floor (prior + our first pass). Majority = deterministic always-predict-majority. Permutation = shuffle-label null (seed-proof).</a:t>
            </a:r>
          </a:p>
          <a:p>
            <a:r>
              <a:rPr sz="1200"/>
              <a:t>Verdict flips by method: audio-Triads &amp; gaze-Triads are significant ONLY under permutation; gaze-Dyads LOSES significance under permutation (6-feature null fits shuffled labels). Decision needed: which test do we standardize on?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Representation: Group-level vs Long-format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960120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137160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/>
                        <a:t>Audio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group-level (197)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long-format (506)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+0.01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-0.01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291840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Long-format repeats each group-window once per participant (dyad ×2, triad ×3) → pseudo-replication on a group-level label.</a:t>
            </a:r>
          </a:p>
          <a:p>
            <a:r>
              <a:rPr sz="1200"/>
              <a:t>But best-model accuracy is ~identical (Δ ≤ 0.01) → dedup does NOT inflate numbers. Group-level is the honest unit and avoids the reviewer objection.</a:t>
            </a:r>
          </a:p>
          <a:p>
            <a:r>
              <a:rPr sz="1200"/>
              <a:t>Note: the prior gaze detector was ALWAYS group-level (185 windows). Moving ours to group-level makes the comparison apples-to-apples.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Methodology Decisions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1133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1. Significance test: uniform-dummy (gameable) vs majority one-sample vs permutation (recommend permutation — seed-proof, handles class balance).</a:t>
            </a:r>
          </a:p>
          <a:p>
            <a:r>
              <a:rPr sz="1200"/>
              <a:t>2. Unit of analysis: group-level (honest, recommend) vs long-format (pseudo-replication). Accuracy ~unchanged either way.</a:t>
            </a:r>
          </a:p>
          <a:p>
            <a:r>
              <a:rPr sz="1200"/>
              <a:t>3. Chance baseline: uniform 0.5 vs deterministic majority (All 0.51 / Dyads 0.59 / Triads 0.55). Recommend majority.</a:t>
            </a:r>
          </a:p>
          <a:p>
            <a:r>
              <a:rPr sz="1200"/>
              <a:t>4. Model selection: nested best-per-cell — the dyad verdict flips on which model is used (single fixed model is misleading).</a:t>
            </a:r>
          </a:p>
          <a:p>
            <a:r>
              <a:rPr sz="1200"/>
              <a:t>5. Headline modality: audio-only (best for group TE, gaze-free) vs multimodal. Recommend lead with audio-only.</a:t>
            </a:r>
          </a:p>
          <a:p>
            <a:r>
              <a:rPr sz="1200"/>
              <a:t>6. Dyads n=8 is underpowered — report with caveat regardless of method.</a:t>
            </a:r>
          </a:p>
          <a:p>
            <a:r>
              <a:rPr sz="1200"/>
              <a:t>7. Scaled vs unscaled features (slide 'Prior Baseline — Corrected'): scaled = our pipeline; affects prior 0.67→0.73.</a:t>
            </a:r>
          </a:p>
          <a:p>
            <a:r>
              <a:rPr sz="1200"/>
              <a:t>8. TODO: recompute the head-to-head (ours vs prior) at group-level + permutation for a final fair comparison.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Detector vs 3 Priors + Fusion (group-level, clean labels)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05156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108960"/>
                <a:gridCol w="1005840"/>
                <a:gridCol w="1005840"/>
                <a:gridCol w="1828800"/>
                <a:gridCol w="237744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Detector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maj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perm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t-test p (vs maj)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dummy(majority)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0.030✓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0.069✗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0.007✓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0.001✓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0.019✓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0.011✓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0.001✓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dummy(majority)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0.362✗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0.303✗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0.083✗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0.206✗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0.929✗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0.010✓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0.665✗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0.023✓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0.004✓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dummy(majority)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0.561✗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0.090✗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0.048✓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0.046✓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0.141✗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594360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3 priors: dummy(majority) / AIxVR (gaze, per-split feats) / GazexSpeaking (gaze×speaking). audio = our gaze-free v/a/d. Two tests shown (method UNDECIDED): permutation null = model on shuffled labels (lenient); t-test null = majority floor (stricter) → they disagree (esp. Triads &amp; Dyads). Highlights: fusion audio+GazexSpeaking best on All (0.75) &amp; Dyads (0.81); audio alone wins Triads (0.71, gaze-free). Dyads n=8 — unstable, caveat.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Raw Acoustics (openSMILE) vs Affect (v/a/d)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04241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97280"/>
                <a:gridCol w="2011680"/>
                <a:gridCol w="237744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v/a/d (3)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openSMILE (88)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v/a/d + openSMILE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Group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Group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Group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Individual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Individual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Individual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0624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Addresses the objection that v/a/d is affect ESTIMATED from audio, not a raw acoustic feature.</a:t>
            </a:r>
          </a:p>
          <a:p>
            <a:r>
              <a:rPr sz="1200"/>
              <a:t>openSMILE = 88 interpretable eGeMAPS functionals (F0, loudness, jitter, shimmer, MFCC, spectral flux ...) — raw acoustics, not embeddings.</a:t>
            </a:r>
          </a:p>
          <a:p>
            <a:r>
              <a:rPr sz="1200"/>
              <a:t>Result: raw acoustics do NOT beat the affect estimate for group TE (v/a/d 0.69–0.72 &gt; openSMILE 0.57–0.62 across all splits); combining them does not help.</a:t>
            </a:r>
          </a:p>
          <a:p>
            <a:r>
              <a:rPr sz="1200"/>
              <a:t>Only individual-All sees a small gain from adding openSMILE (0.64 vs 0.61). 88 features on ~20 sessions also risks overfitting.</a:t>
            </a:r>
          </a:p>
          <a:p>
            <a:r>
              <a:rPr sz="1200"/>
              <a:t>Takeaway: the compact 3-dim affect (v/a/d) is the stronger, more parsimonious audio representation — even raw acoustics don't outperform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Operationalizing the TE Rubric with a Local LLM (zero-shot + features)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97840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1828800"/>
                <a:gridCol w="1737360"/>
                <a:gridCol w="1097280"/>
                <a:gridCol w="1188720"/>
                <a:gridCol w="914400"/>
                <a:gridCol w="118872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Majority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LLM zero-shot (think/nothink)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LLM markers (think/nothink)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BERT (text)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Prior gaze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Audio+Gaze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0.74 / 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0.81 / 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0.75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0.71 / 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0.75 / 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0.76 / 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0.84 / 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383280"/>
            <a:ext cx="11338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Idea: the authors' TE coding schema (Low/Med/High markers) IS a set of linguistic criteria — operationalize it directly with an LLM instead of generic embeddings. Local Qwen3.6-27B (GDPR: on-prem, German transcripts), 60 s group-windows, clean 2-annotator labels.</a:t>
            </a:r>
          </a:p>
          <a:p>
            <a:r>
              <a:rPr sz="1100"/>
              <a:t>(a) Zero-shot — rubric + transcript -&gt; TE level, NO training, NO gaze: ~0.74–0.76 All, significant every split (permutation p ≈ .0005). Matches the best multimodal fusion (0.75 All), beats audio alone (0.66). Think and non-think near-identical here.</a:t>
            </a:r>
          </a:p>
          <a:p>
            <a:r>
              <a:rPr sz="1100"/>
              <a:t>(b) Marker features — 4 rubric axes (task_relevance, content_depth, reasoning, connecting_ideas) -&gt; same nested LOSO panel: thinking mode All 0.81 / Triads 0.84 — the highest of ANY method/modality here, and above non-think (0.76 / 0.82).</a:t>
            </a:r>
          </a:p>
          <a:p>
            <a:r>
              <a:rPr sz="1100"/>
              <a:t>Generic German BERT (gbert, frozen embeddings, no rubric) ties it (0.74–0.77) — the signal lives in the text; the rubric makes it training-free AND interpretable (per-axis scores).</a:t>
            </a:r>
          </a:p>
          <a:p>
            <a:r>
              <a:rPr sz="1100"/>
              <a:t>All group-level, nested LOSO + permutation. Two LLM passes reported (think / non-think); thinking helps the marker features, not zero-shot. NB: Qwen3.6 thinking-EFFORT levels (low/med) are inert on ollama — only on/off differ.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Config: Gaze×Speaking × LLM Rubric (fusion)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94183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828800"/>
                <a:gridCol w="1097280"/>
                <a:gridCol w="1554480"/>
                <a:gridCol w="1645920"/>
                <a:gridCol w="201168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Gaze (GxS-6)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Gaze+vad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Gaze+LLM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Gaze+vad+LLM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/>
                        <a:t>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/>
                        <a:t>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0.85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00400"/>
            <a:ext cx="11247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Fuses the prior gaze detector (GazexSpeaking, 6 features, SAME set all splits) with the LLM rubric markers (4 axes, thinking pass) — consistent feature sets, no per-split cherry-picking.</a:t>
            </a:r>
          </a:p>
          <a:p>
            <a:r>
              <a:rPr sz="1100"/>
              <a:t>Gaze+LLM = BEST detector: All 0.86, Dyads 0.87 (both perm p≈.003) — beats every prior, every single modality, and the old gaze+vad fusion (0.75/0.81). On Dyads it also turns gaze-alone's ns result (p=.083) significant.</a:t>
            </a:r>
          </a:p>
          <a:p>
            <a:r>
              <a:rPr sz="1100"/>
              <a:t>Gaze and rubric-text are COMPLEMENTARY: gaze captures attention / turn-taking, the LLM captures content depth &amp; reasoning — fusing them is additive, not redundant.</a:t>
            </a:r>
          </a:p>
          <a:p>
            <a:r>
              <a:rPr sz="1100"/>
              <a:t>v/a/d affect adds nothing once the LLM is in (All/Dyads: gaze+LLM ≥ gaze+vad+LLM). Only Triads benefits from the full triple (0.85 vs 0.83) — where gaze is weakest, audio still helps.</a:t>
            </a:r>
          </a:p>
          <a:p>
            <a:r>
              <a:rPr sz="1100"/>
              <a:t>Group-level, nested LOSO + permutation, clean 2-annotator labels. LLM = local Qwen3.6-27B (thinking mode; outperforms non-think on the marker features).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Application>LibreOffice/26.2.3.2$Linux_X86_64 LibreOffice_project/d4d5ed47b6084125f28d269a5650105d54dde034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2026-06-01T16:48:43Z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