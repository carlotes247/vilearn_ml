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82" r:id="rId3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71" r:id="rId19"/>
    <p:sldId id="272" r:id="rId20"/>
    <p:sldId id="273" r:id="rId21"/>
    <p:sldId id="274" r:id="rId22"/>
    <p:sldId id="266" r:id="rId13"/>
    <p:sldId id="267" r:id="rId14"/>
    <p:sldId id="268" r:id="rId15"/>
    <p:sldId id="269" r:id="rId16"/>
    <p:sldId id="270" r:id="rId17"/>
    <p:sldId id="275" r:id="rId23"/>
    <p:sldId id="276" r:id="rId24"/>
    <p:sldId id="277" r:id="rId25"/>
    <p:sldId id="278" r:id="rId26"/>
    <p:sldId id="279" r:id="rId27"/>
    <p:sldId id="280" r:id="rId30"/>
    <p:sldId id="283" r:id="rId34"/>
    <p:sldId id="284" r:id="rId35"/>
    <p:sldId id="281" r:id="rId3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6.xml"/><Relationship Id="rId14" Type="http://schemas.openxmlformats.org/officeDocument/2006/relationships/slide" Target="slides/slide17.xml"/><Relationship Id="rId15" Type="http://schemas.openxmlformats.org/officeDocument/2006/relationships/slide" Target="slides/slide18.xml"/><Relationship Id="rId16" Type="http://schemas.openxmlformats.org/officeDocument/2006/relationships/slide" Target="slides/slide19.xml"/><Relationship Id="rId17" Type="http://schemas.openxmlformats.org/officeDocument/2006/relationships/slide" Target="slides/slide20.xml"/><Relationship Id="rId18" Type="http://schemas.openxmlformats.org/officeDocument/2006/relationships/presProps" Target="presProps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6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3.xml"/><Relationship Id="rId33" Type="http://schemas.openxmlformats.org/officeDocument/2006/relationships/slide" Target="slides/slide2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3EB3BD-33FE-4ACE-8802-A181BF3A69D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A30745-60FE-4995-8768-1496A995D16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53E541-7FB9-4B9C-8C80-8CF10F6BAD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91AE2D-E87E-49A1-9685-E6D4618F9CEE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ck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ste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D86BC6-D45E-4BF8-AAD1-AD2C42A0F71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7DCDF07-09AC-45CD-B479-9F3D962E00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B84BFA-AC1B-4C4E-9C43-07A6D81DBE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18ED06-906A-4C69-B864-FE3169E10B2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777850-EF6A-480D-B55C-F53BA984BE3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F1F965-296B-4E7C-A8AF-123D505866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icon to add picture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737D2F-ED1A-4036-B7FF-34FB1FBCEAEB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Vilearn 2026 Next Study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Was Done Since the 16 June Meeting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/>
              <a:t>NEW RESULT — LLM operationalizes the TE rubric (see results slides):</a:t>
            </a:r>
          </a:p>
          <a:p>
            <a:pPr lvl="1"/>
            <a:r>
              <a:rPr sz="1100"/>
              <a:t>• Took the study's own coding schema (Low/Med/High markers) and made it an LLM prompt — local Qwen3.6-27B, German transcripts, 60 s group-windows, clean labels. Zero-shot (NO training, NO gaze) ties the best multimodal fusion (~0.75 All).</a:t>
            </a:r>
          </a:p>
          <a:p>
            <a:pPr lvl="1"/>
            <a:r>
              <a:rPr sz="1100"/>
              <a:t>• Marker features (4 rubric axes): thinking mode All 0.81 / Triads 0.84 — highest single channel. German BERT baseline ties → the signal is in the text.</a:t>
            </a:r>
          </a:p>
          <a:p>
            <a:pPr lvl="1"/>
            <a:r>
              <a:rPr sz="1100"/>
              <a:t>• BEST CONFIG = Gaze×Speaking + LLM fusion: All 0.86 / Dyads 0.87 (perm p≈.003) — beats every prior, every modality, and the old gaze+vad fusion; makes Dyads gaze significant.</a:t>
            </a:r>
          </a:p>
          <a:p>
            <a:r>
              <a:rPr sz="1300" b="1"/>
              <a:t>Methodology &amp; comparison:</a:t>
            </a:r>
          </a:p>
          <a:p>
            <a:pPr lvl="1"/>
            <a:r>
              <a:rPr sz="1100"/>
              <a:t>• Methodology-review section: significance flip-flop (permutation vs majority t-test), group-level vs long-format, open decisions — significance method still PENDING team decision.</a:t>
            </a:r>
          </a:p>
          <a:p>
            <a:pPr lvl="1"/>
            <a:r>
              <a:rPr sz="1100"/>
              <a:t>• Our detector vs 3 consistent priors (dummy / AIxVR / GazexSpeaking) + audio fusion, both significance tests shown; slide 2 redone with the true majority baseline.</a:t>
            </a:r>
          </a:p>
          <a:p>
            <a:pPr lvl="1"/>
            <a:r>
              <a:rPr sz="1100"/>
              <a:t>• openSMILE raw acoustics (88 eGeMAPS) vs v/a/d affect → affect wins; raw acoustics don't beat the 3-dim estimate.</a:t>
            </a:r>
          </a:p>
          <a:p>
            <a:r>
              <a:rPr sz="1300" b="1"/>
              <a:t>Pipeline:</a:t>
            </a:r>
          </a:p>
          <a:p>
            <a:pPr lvl="1"/>
            <a:r>
              <a:rPr sz="1100"/>
              <a:t>• Group-TE decoupled to per-group rows (Q2); idea1 stale labels retired (now points to the clean fusion table).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Was Done Since the 16 June Meeting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/>
              <a:t>NEW RESULT — LLM operationalizes the TE rubric (slides 25–26):</a:t>
            </a:r>
          </a:p>
          <a:p>
            <a:pPr lvl="1"/>
            <a:r>
              <a:rPr sz="1100"/>
              <a:t>• Took the study's own coding schema (Low/Med/High markers) and made it an LLM prompt — local Qwen3.6-27B, German transcripts, 60 s group-windows, clean labels. Zero-shot (NO training, NO gaze) ties the best multimodal fusion (~0.75 All).</a:t>
            </a:r>
          </a:p>
          <a:p>
            <a:pPr lvl="1"/>
            <a:r>
              <a:rPr sz="1100"/>
              <a:t>• Marker features (4 rubric axes): thinking mode All 0.81 / Triads 0.84 — highest single channel. German BERT baseline ties → the signal is in the text.</a:t>
            </a:r>
          </a:p>
          <a:p>
            <a:pPr lvl="1"/>
            <a:r>
              <a:rPr sz="1100"/>
              <a:t>• BEST CONFIG = Gaze×Speaking + LLM fusion: All 0.86 / Dyads 0.87 (perm p≈.003) — beats every prior, every modality, and the old gaze+vad fusion; makes Dyads gaze significant.</a:t>
            </a:r>
          </a:p>
          <a:p>
            <a:r>
              <a:rPr sz="1300" b="1"/>
              <a:t>Methodology &amp; comparison (slides 20–24, 2):</a:t>
            </a:r>
          </a:p>
          <a:p>
            <a:pPr lvl="1"/>
            <a:r>
              <a:rPr sz="1100"/>
              <a:t>• Methodology-review section: significance flip-flop (permutation vs majority t-test), group-level vs long-format, open decisions — significance method still PENDING team decision.</a:t>
            </a:r>
          </a:p>
          <a:p>
            <a:pPr lvl="1"/>
            <a:r>
              <a:rPr sz="1100"/>
              <a:t>• Our detector vs 3 consistent priors (dummy / AIxVR / GazexSpeaking) + audio fusion, both significance tests shown; slide 2 redone with the true majority baseline.</a:t>
            </a:r>
          </a:p>
          <a:p>
            <a:pPr lvl="1"/>
            <a:r>
              <a:rPr sz="1100"/>
              <a:t>• openSMILE raw acoustics (88 eGeMAPS) vs v/a/d affect → affect wins; raw acoustics don't beat the 3-dim estimate.</a:t>
            </a:r>
          </a:p>
          <a:p>
            <a:r>
              <a:rPr sz="1300" b="1"/>
              <a:t>Pipeline:</a:t>
            </a:r>
          </a:p>
          <a:p>
            <a:pPr lvl="1"/>
            <a:r>
              <a:rPr sz="1100"/>
              <a:t>• Group-TE decoupled to per-group rows (Q2); idea1 stale labels retired (now points to the clean fusion table).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Current Features (Group Level) 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Gaze Configs (MG, DG, No_DG)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Rate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Duration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Current Detector accuracy (QDA):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Dyads overall accuracy: 77%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 TE class accuracy: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58.82%, High TE precision: 83.34%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Low TE class accuracy: 91.3%, Low TE precision: 75%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Paralinguistic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Speaking-listening behaviour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speaking-listening configurations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 (SP), Full-Silence (SI), Overlap (OL)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77" name="Table 3"/>
          <p:cNvGraphicFramePr/>
          <p:nvPr/>
        </p:nvGraphicFramePr>
        <p:xfrm>
          <a:off x="1359720" y="3430800"/>
          <a:ext cx="8011800" cy="2975040"/>
        </p:xfrm>
        <a:graphic>
          <a:graphicData uri="http://schemas.openxmlformats.org/drawingml/2006/table">
            <a:tbl>
              <a:tblPr/>
              <a:tblGrid>
                <a:gridCol w="1602360"/>
                <a:gridCol w="1602360"/>
                <a:gridCol w="1602360"/>
                <a:gridCol w="1602360"/>
                <a:gridCol w="1602360"/>
              </a:tblGrid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 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SI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95720">
                <a:tc row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OL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  <a:tr h="49572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Speaking-Listening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Gaze Configs (MG, DG, No_DG) x 3 Speaking Configs (SP, SI, OL) = 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RQs: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do TE values differ between all 9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well does a classifier learn to detect TE with these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Comments from Meeting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Speaking-Silent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G_SI (G means either MG or DG)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No_G_SI (no G, no talk)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G_OnSpeaker_SP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No_G_OnSpeaker_SP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G_OnSpeaker_OL (only for dyads potentially because it might be too complex for triads)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Do we have a way to detect listening beyond G_OnSpeaker_SP?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41443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4" name="Content Placeholder 2"/>
          <p:cNvSpPr/>
          <p:nvPr/>
        </p:nvSpPr>
        <p:spPr>
          <a:xfrm>
            <a:off x="5171040" y="2361240"/>
            <a:ext cx="6666480" cy="37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34308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Affective derived from  linguistic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sentiment_p_blue_mean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sentiment_p_green_mean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sentiment_p_red_mean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arousal_mean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dominance_mean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valence_mean  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499"/>
              </a:spcBef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101527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(length of what Whisper outputs as a segment, kind of like sentence length)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8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Research Questions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838080" y="152280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Paralinguistic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do TE values differ between all 9 gaze x speaker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well does a classifier learn to detect TE with gaze x speaker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only linguistic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Which linguistic features have the strongest predictive power?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Multimodal: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both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 sets?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Linguistic TE Detector — Setup (DISCOVER)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Data: 20 floorlevel groups (8 dyads, 12 triads), interaction-time 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Unit: 60 s windows (best granularity, see next); target: task engagement high/low at thresh 0.5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Features (no gaze):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Linguistic: word_count, words_per_second, avg_word_length, question/statement_rate, segment_count, speaking_seconds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Affective: sentiment, arousal, dominance, valence; plus speaking activity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Eval: leave-one-session-out CV; model sweep (QDA, SVM, NB, kNN, RF, LogReg) vs uniform baseline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Reported on dyads (D) / triads (T) / all, matching prior 3-fold reporting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Modalities (ablation buckets)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155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77824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/>
                        <a:t>Modality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Features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(Para)linguistic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text: word_count, words/sec, avg_word_length, question/statement_rate, sentiment;  speaking: speaking_role, speaking_seconds, segment_count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Audio (affect)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arousal, dominance, valence  (group-level audio emotion)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Multimodal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(para)linguistic + audio  (= our main detector)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(+ embeddings)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optional: openSMILE + emoW2V + sentiment embeddings, PCA (degrade slightly)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Audio is group-shared (one group.audio.wav); the transcript is diarized from it. Speaking attributes the shared signal to each role -&gt; folded into (para)linguistic. v/a/d derived from audio -&gt; audio. Ablation: (para)linguistic-only vs audio-only vs both.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Modality Ablation — what each modality detects (60 s, LOSO)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9144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/>
                        <a:t>Target (split)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Multimodal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Audio-only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(Para)ling-only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(Triads)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(Dyads)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(Triads)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(Dyads)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/>
              <a:t>Best model per cell, accuracy. DOUBLE DISSOCIATION: group task engagement is carried by audio affect (valence/dominance) - text adds nothing; individual engagement is carried by (para)linguistic (speaking + word rate) - group-shared audio gives no per-role signal. Combining modalities = the dominant one, no synergy.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Changed Since Last Week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96012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383280"/>
                <a:gridCol w="384048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Last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Now (harmonized)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Labels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helen only · 74% high (skew)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2-annotator mean · ~49% (balanced)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Triads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Dyads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vs prior gaze QDA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beats ✓ (d=0.92–1.35)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n.s. — matches prior (0.73)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1"/>
              <a:t>Two artifacts removed — they are independent:</a:t>
            </a:r>
          </a:p>
          <a:p>
            <a:pPr lvl="1"/>
            <a:r>
              <a:rPr sz="1200"/>
              <a:t>(1) Our labels were single-annotator + 74% high → majority baseline 0.74 inflated last week's accuracy. Adopting the published 2-annotator mean balances to ~49% → honest 0.68.</a:t>
            </a:r>
          </a:p>
          <a:p>
            <a:pPr lvl="1"/>
            <a:r>
              <a:rPr sz="1200"/>
              <a:t>(2) The prior baseline itself was computed on time-stretch-bugged labels (60 Hz averaging error, 13/20 groups). Re-ran it on clean labels under identical nested CV.</a:t>
            </a:r>
          </a:p>
          <a:p>
            <a:pPr lvl="1"/>
            <a:r>
              <a:rPr sz="1200"/>
              <a:t>Net: 0.68, statistically tied with the prior (neither wins); double dissociation + gaze-free parity hold. Better surfaced now than at review.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Prior Baseline — Corrected for the Label Bug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0881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651760"/>
                <a:gridCol w="3108960"/>
                <a:gridCol w="274320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Prior gaze QDA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Published (slides 2–3)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Label-fixed · unscaled (prior setup)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Label-fixed · scaled (our pipeline)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All (20)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Dyads (8)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0.77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Triads (12)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749039"/>
            <a:ext cx="11155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Same QDA, same gaze features, same nested CV (adopted from the prior) in all columns — only the labels and feature scaling change.</a:t>
            </a:r>
          </a:p>
          <a:p>
            <a:r>
              <a:rPr sz="1300"/>
              <a:t>Label fix alone (col 2, unscaled = the prior's published SIMPLE setup): 0.60 → 0.67 All. The 60 Hz time-stretch bug depressed published numbers ~0.05–0.08 (13/20 groups; the 7 pure-90 Hz groups replicate exactly).</a:t>
            </a:r>
          </a:p>
          <a:p>
            <a:r>
              <a:rPr sz="1300"/>
              <a:t>Cols 2 → 3 differ only by feature scaling (StandardScaler): the prior's published runs were unscaled; our detector pipeline scales. Col 3 is what the results slide compares against.</a:t>
            </a:r>
          </a:p>
          <a:p>
            <a:r>
              <a:rPr sz="1300"/>
              <a:t>None reach significance vs chance after Bonferroni (d up to 1.18, but n = 8–20 underpowered).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3" name="Table 1"/>
          <p:cNvGraphicFramePr/>
          <p:nvPr/>
        </p:nvGraphicFramePr>
        <p:xfrm>
          <a:off x="365760" y="1371600"/>
          <a:ext cx="10423800" cy="128016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737360"/>
                <a:gridCol w="731520"/>
                <a:gridCol w="2194560"/>
                <a:gridCol w="2560320"/>
              </a:tblGrid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Split (folds)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Best model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Acc (mean±SD)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F1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baseline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prior GazexSpeak QDA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Dyads (8)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Decision Tree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0.65 ± 0.11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0.54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(d=0.63)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0.77; d=−0.58)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Triads (12)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QDA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0.70 ± 0.20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0.63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(d=0.54)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0.65; d=+0.36)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All (20)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Logistic Regression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0.68 ± 0.18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0.57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(d=0.58)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0.73; d=−0.36)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94" name="TextBox 2"/>
          <p:cNvSpPr/>
          <p:nvPr/>
        </p:nvSpPr>
        <p:spPr>
          <a:xfrm>
            <a:off x="365760" y="2834640"/>
            <a:ext cx="104238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Per-fold LOSO accuracy; paired t-test (Bonferroni) + Cohen's d. Harmonized 2-annotator labels + identical nested CV. Our detector and the prior gaze QDA are statistically indistinguishable on every split (all n.s.) — we edge triads, the prior edges dyads. The prior QDA is itself n.s. vs chance after Bonferroni too (d up to 1.18, but n=8–20 underpowered): nothing here — ours or prior — survives correction. The earlier 'beats prior' result was a label-distribution artifact.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3"/>
          <p:cNvSpPr/>
          <p:nvPr/>
        </p:nvSpPr>
        <p:spPr>
          <a:xfrm>
            <a:off x="365760" y="27432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 Detection: Results + Significance (vs prior detector)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457200" y="61264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/>
              <a:t>Fair comparison: prior gaze features (185 floorlevel windows) re-scored with our harmonized 2-annotator labels under identical LOSO nested CV; our detector uses our pipeline windows (197). Counts differ from tail-window trimming; tests paired by group (n = 20 / 8 / 12).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Why 60 s Windows (Granularity)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8" name="TextBox 3"/>
          <p:cNvSpPr/>
          <p:nvPr/>
        </p:nvSpPr>
        <p:spPr>
          <a:xfrm>
            <a:off x="457200" y="2560320"/>
            <a:ext cx="9482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Aggregating to 60 s removes noise -&gt; large gain. 1 Hz frames and segment-based too noisy. 60 s also matches the prior-work window size.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9" name="Table 98"/>
          <p:cNvGraphicFramePr>
            <a:graphicFrameLocks noGrp="1"/>
          </p:cNvGraphicFramePr>
          <p:nvPr/>
        </p:nvGraphicFramePr>
        <p:xfrm>
          <a:off x="457200" y="1463040"/>
          <a:ext cx="99669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474720"/>
                <a:gridCol w="32918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Granularity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Group TE acc (best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Note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Transcript 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per-utterance, noisy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60 s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best — matches prior work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0" name="TextBox 99"/>
          <p:cNvSpPr txBox="1"/>
          <p:nvPr/>
        </p:nvSpPr>
        <p:spPr>
          <a:xfrm>
            <a:off x="4572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Best model per granularity (group TE, LOSO). Coarser aggregation → less noise; 60 s wins. (1 Hz frame omitted — not recomputed on harmonized labels.)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What Drives Task Engagement? (feature contribution)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TE: group affect dominates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valence (positive -&gt; high TE), dominance (negative), arousal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Individual engagement: more distributed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own speaking activity + word_count / words_per_second + affect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Method: standardized logistic-regression coefficients + Random-Forest importance (LOSO)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features explain individual engagement more than group TE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1" name="Table 100"/>
          <p:cNvGraphicFramePr>
            <a:graphicFrameLocks noGrp="1"/>
          </p:cNvGraphicFramePr>
          <p:nvPr/>
        </p:nvGraphicFramePr>
        <p:xfrm>
          <a:off x="457200" y="3749039"/>
          <a:ext cx="78638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23774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Feature (Group 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LogReg coef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RF importance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dominance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-1.43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0.18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valence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0.16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question_rate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0.04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arousal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Group TE driven by audio affect (dominance −, valence +); higher question rate → lower TE. Individual engagement: speaking activity + word-rate + text.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Do Audio / Text Embeddings Help?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Tested base features + openSMILE + emoW2V + sentiment embeddings (1880 dims -&gt; PCA)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 improvement - embeddings on top of base features hurt cross-session F1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High-dimensional streams add noise that degrades leave-one-session-out generalization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Conclusion: keep the detector light - simple interpretable features win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457200" y="3749039"/>
          <a:ext cx="941832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2468880"/>
                <a:gridCol w="164592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Model (Group TE, 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Base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+Embeddings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Delta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-0.04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-0.13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Naive Bayes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-0.04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Embeddings (openSMILE + emoW2V + sentiment, PCA) added on top of base features. Net degradation — best base 0.68 &gt; best +embeddings 0.63. Added dimensions = noise (harmonized 2-annotator labels).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Answers to Research Questions &amp; Next Steps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sz="1500"/>
              <a:t>Features = linguistic (text) + audio-derived affect (valence/arousal/dominance) + speaking → a MULTIMODAL detector, not linguistic-only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r>
              <a:rPr sz="1500"/>
              <a:t>With harmonized 2-annotator labels + nested CV: multimodal group TE ≈ 0.68 All / 0.70 Triads / 0.65 Dyads — statistically TIED with the prior gaze×speaking QDA (all n.s.); our detector edges triads, gaze edges dyads</a:t>
            </a:r>
          </a:p>
          <a:p>
            <a:r>
              <a:rPr sz="1500"/>
              <a:t>Double dissociation holds: group TE ← audio affect (valence/dominance); individual engagement ← (para)linguistic (speaking + text)</a:t>
            </a:r>
          </a:p>
          <a:p>
            <a:r>
              <a:rPr sz="1500"/>
              <a:t>Prior baseline shown on slides 2–3 is depressed by a 60 Hz label time-stretch bug (e.g. QDA All 0.60 published → 0.67 corrected on harmonized labels)</a:t>
            </a:r>
          </a:p>
          <a:p>
            <a:r>
              <a:rPr sz="1500"/>
              <a:t>Embeddings (openSMILE/emoW2V/sentiment, PCA) on top of base: no gain</a:t>
            </a:r>
          </a:p>
          <a:p>
            <a:r>
              <a:rPr sz="1500"/>
              <a:t>Open: nothing survives Bonferroni vs chance (n=8–20 underpowered); labels now balanced ~49% high (was 74% skew)</a:t>
            </a:r>
          </a:p>
          <a:p>
            <a:r>
              <a:rPr sz="1500"/>
              <a:t>1-year: real-time multimodal per-window TE detector feeding adaptive VR feedback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Significance Depends on the Test (sig → ns → sig)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118872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1280160"/>
                <a:gridCol w="2103120"/>
                <a:gridCol w="2103120"/>
                <a:gridCol w="182880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/>
                        <a:t>Detector / 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best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majority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uniform-dummy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majority 1-samp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permutation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audio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SVM 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0.017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0.002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0.007 ✓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audio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LogReg 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0.019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0.058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0.017 ✓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audio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QDA 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0.117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0.052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0.003 ✓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gaze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QDA 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0.006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0.001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0.007 ✓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gaze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SVM 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0.006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0.000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0.083 ✗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gaze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NB 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0.144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0.090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0.003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840480"/>
            <a:ext cx="11338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All group-level, nested model selection, RAW p (Bonferroni shifts the threshold but not the pattern).</a:t>
            </a:r>
          </a:p>
          <a:p>
            <a:r>
              <a:rPr sz="1200"/>
              <a:t>Uniform-dummy = stochastic/gameable floor (prior + our first pass). Majority = deterministic always-predict-majority. Permutation = shuffle-label null (seed-proof).</a:t>
            </a:r>
          </a:p>
          <a:p>
            <a:r>
              <a:rPr sz="1200"/>
              <a:t>Verdict flips by method: audio-Triads &amp; gaze-Triads are significant ONLY under permutation; gaze-Dyads LOSES significance under permutation (6-feature null fits shuffled labels). Decision needed: which test do we standardize on?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Representation: Group-level vs Long-format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960120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137160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/>
                        <a:t>Audio (best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group-level (197)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long-format (506)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Δ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+0.01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Dyads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-0.01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Triads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291840"/>
            <a:ext cx="11338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Long-format repeats each group-window once per participant (dyad ×2, triad ×3) → pseudo-replication on a group-level label.</a:t>
            </a:r>
          </a:p>
          <a:p>
            <a:r>
              <a:rPr sz="1200"/>
              <a:t>But best-model accuracy is ~identical (Δ ≤ 0.01) → dedup does NOT inflate numbers. Group-level is the honest unit and avoids the reviewer objection.</a:t>
            </a:r>
          </a:p>
          <a:p>
            <a:r>
              <a:rPr sz="1200"/>
              <a:t>Note: the prior gaze detector was ALWAYS group-level (185 windows). Moving ours to group-level makes the comparison apples-to-apples.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Methodology Decisions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1133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1. Significance test: uniform-dummy (gameable) vs majority one-sample vs permutation (recommend permutation — seed-proof, handles class balance).</a:t>
            </a:r>
          </a:p>
          <a:p>
            <a:r>
              <a:rPr sz="1200"/>
              <a:t>2. Unit of analysis: group-level (honest, recommend) vs long-format (pseudo-replication). Accuracy ~unchanged either way.</a:t>
            </a:r>
          </a:p>
          <a:p>
            <a:r>
              <a:rPr sz="1200"/>
              <a:t>3. Chance baseline: uniform 0.5 vs deterministic majority (All 0.51 / Dyads 0.59 / Triads 0.55). Recommend majority.</a:t>
            </a:r>
          </a:p>
          <a:p>
            <a:r>
              <a:rPr sz="1200"/>
              <a:t>4. Model selection: nested best-per-cell — the dyad verdict flips on which model is used (single fixed model is misleading).</a:t>
            </a:r>
          </a:p>
          <a:p>
            <a:r>
              <a:rPr sz="1200"/>
              <a:t>5. Headline modality: audio-only (best for group TE, gaze-free) vs multimodal. Recommend lead with audio-only.</a:t>
            </a:r>
          </a:p>
          <a:p>
            <a:r>
              <a:rPr sz="1200"/>
              <a:t>6. Dyads n=8 is underpowered — report with caveat regardless of method.</a:t>
            </a:r>
          </a:p>
          <a:p>
            <a:r>
              <a:rPr sz="1200"/>
              <a:t>7. Scaled vs unscaled features (slide 'Prior Baseline — Corrected'): scaled = our pipeline; affects prior 0.67→0.73.</a:t>
            </a:r>
          </a:p>
          <a:p>
            <a:r>
              <a:rPr sz="1200"/>
              <a:t>8. TODO: recompute the head-to-head (ours vs prior) at group-level + permutation for a final fair comparison.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Detector vs 3 Priors + Fusion (group-level, clean labels)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105156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108960"/>
                <a:gridCol w="1005840"/>
                <a:gridCol w="1005840"/>
                <a:gridCol w="1828800"/>
                <a:gridCol w="2377440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Detector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maj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perm 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t-test p (vs maj)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dummy(majority)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0.030✓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0.069✗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0.007✓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0.001✓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0.019✓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0.011✓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0.001✓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dummy(majority)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0.362✗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0.303✗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0.083✗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0.206✗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0.929✗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0.010✓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0.665✗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0.023✓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0.004✓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dummy(majority)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0.561✗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0.090✗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0.048✓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0.046✓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0.141✗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594360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/>
              <a:t>3 priors: dummy(majority) / AIxVR (gaze, per-split feats) / GazexSpeaking (gaze×speaking). audio = our gaze-free v/a/d. Two tests shown (method UNDECIDED): permutation null = model on shuffled labels (lenient); t-test null = majority floor (stricter) → they disagree (esp. Triads &amp; Dyads). Highlights: fusion audio+GazexSpeaking best on All (0.75) &amp; Dyads (0.81); audio alone wins Triads (0.71, gaze-free). Dyads n=8 — unstable, caveat.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Raw Acoustics (openSMILE) vs Affect (v/a/d)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04241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097280"/>
                <a:gridCol w="2011680"/>
                <a:gridCol w="237744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v/a/d (3)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openSMILE (88)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v/a/d + openSMILE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Group 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Group 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Group 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Individual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Individual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Individual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20624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Addresses the objection that v/a/d is affect ESTIMATED from audio, not a raw acoustic feature.</a:t>
            </a:r>
          </a:p>
          <a:p>
            <a:r>
              <a:rPr sz="1200"/>
              <a:t>openSMILE = 88 interpretable eGeMAPS functionals (F0, loudness, jitter, shimmer, MFCC, spectral flux ...) — raw acoustics, not embeddings.</a:t>
            </a:r>
          </a:p>
          <a:p>
            <a:r>
              <a:rPr sz="1200"/>
              <a:t>Result: raw acoustics do NOT beat the affect estimate for group TE (v/a/d 0.69–0.72 &gt; openSMILE 0.57–0.62 across all splits); combining them does not help.</a:t>
            </a:r>
          </a:p>
          <a:p>
            <a:r>
              <a:rPr sz="1200"/>
              <a:t>Only individual-All sees a small gain from adding openSMILE (0.64 vs 0.61). 88 features on ~20 sessions also risks overfitting.</a:t>
            </a:r>
          </a:p>
          <a:p>
            <a:r>
              <a:rPr sz="1200"/>
              <a:t>Takeaway: the compact 3-dim affect (v/a/d) is the stronger, more parsimonious audio representation — even raw acoustics don't outperform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Operationalizing the TE Rubric with a Local LLM (zero-shot + features)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97840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1828800"/>
                <a:gridCol w="1737360"/>
                <a:gridCol w="1097280"/>
                <a:gridCol w="1188720"/>
                <a:gridCol w="914400"/>
                <a:gridCol w="118872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Majority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LLM zero-shot (think/nothink)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LLM markers (think/nothink)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BERT (text)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Prior gaze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Audio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Audio+Gaze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0.74 / 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0.81 / 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0.75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Dyads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0.71 / 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0.75 / 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0.81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Triads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0.76 / 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0.84 / 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383280"/>
            <a:ext cx="11338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Idea: the authors' TE coding schema (Low/Med/High markers) IS a set of linguistic criteria — operationalize it directly with an LLM instead of generic embeddings. Local Qwen3.6-27B (GDPR: on-prem, German transcripts), 60 s group-windows, clean 2-annotator labels.</a:t>
            </a:r>
          </a:p>
          <a:p>
            <a:r>
              <a:rPr sz="1100"/>
              <a:t>(a) Zero-shot — rubric + transcript -&gt; TE level, NO training, NO gaze: ~0.74–0.76 All, significant every split (permutation p ≈ .0005). Matches the best multimodal fusion (0.75 All), beats audio alone (0.66). Think and non-think near-identical here.</a:t>
            </a:r>
          </a:p>
          <a:p>
            <a:r>
              <a:rPr sz="1100"/>
              <a:t>(b) Marker features — 4 rubric axes (task_relevance, content_depth, reasoning, connecting_ideas) -&gt; same nested LOSO panel: thinking mode All 0.81 / Triads 0.84 — the highest of ANY method/modality here, and above non-think (0.76 / 0.82).</a:t>
            </a:r>
          </a:p>
          <a:p>
            <a:r>
              <a:rPr sz="1100"/>
              <a:t>Generic German BERT (gbert, frozen embeddings, no rubric) ties it (0.74–0.77) — the signal lives in the text; the rubric makes it training-free AND interpretable (per-axis scores).</a:t>
            </a:r>
          </a:p>
          <a:p>
            <a:r>
              <a:rPr sz="1100"/>
              <a:t>All group-level, nested LOSO + permutation. Two LLM passes reported (think / non-think); thinking helps the marker features, not zero-shot. NB: Qwen3.6 thinking-EFFORT levels (low/med) are inert on ollama — only on/off differ.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Best Config: Gaze×Speaking × LLM Rubric (fusion)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94183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828800"/>
                <a:gridCol w="1097280"/>
                <a:gridCol w="1554480"/>
                <a:gridCol w="1645920"/>
                <a:gridCol w="201168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Gaze (GxS-6)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Gaze+vad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Gaze+LLM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Gaze+vad+LLM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0.84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/>
                        <a:t>Dyads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0.83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/>
                        <a:t>Triads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0.85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200400"/>
            <a:ext cx="112471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Fuses the prior gaze detector (GazexSpeaking, 6 features, SAME set all splits) with the LLM rubric markers (4 axes, thinking pass) — consistent feature sets, no per-split cherry-picking.</a:t>
            </a:r>
          </a:p>
          <a:p>
            <a:r>
              <a:rPr sz="1100"/>
              <a:t>Gaze+LLM = BEST detector: All 0.86, Dyads 0.87 (both perm p≈.003) — beats every prior, every single modality, and the old gaze+vad fusion (0.75/0.81). On Dyads it also turns gaze-alone's ns result (p=.083) significant.</a:t>
            </a:r>
          </a:p>
          <a:p>
            <a:r>
              <a:rPr sz="1100"/>
              <a:t>Gaze and rubric-text are COMPLEMENTARY: gaze captures attention / turn-taking, the LLM captures content depth &amp; reasoning — fusing them is additive, not redundant.</a:t>
            </a:r>
          </a:p>
          <a:p>
            <a:r>
              <a:rPr sz="1100"/>
              <a:t>v/a/d affect adds nothing once the LLM is in (All/Dyads: gaze+LLM ≥ gaze+vad+LLM). Only Triads benefits from the full triple (0.85 vs 0.83) — where gaze is weakest, audio still helps.</a:t>
            </a:r>
          </a:p>
          <a:p>
            <a:r>
              <a:rPr sz="1100"/>
              <a:t>Group-level, nested LOSO + permutation, clean 2-annotator labels. LLM = local Qwen3.6-27B (thinking mode; outperforms non-think on the marker features).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LLM Rubric Prompt (operationalizing the TE schema)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/>
              <a:t>SYSTEM (rubric, verbatim from the study's coding schema):</a:t>
            </a:r>
          </a:p>
          <a:p>
            <a:r>
              <a:rPr sz="1100" b="0"/>
              <a:t>Rate the TASK ENGAGEMENT of a group's discussion in a 60 s window of a collaborative VR learning task (German transcript, speakers tagged [blue]/[green]/[red]).</a:t>
            </a:r>
          </a:p>
          <a:p>
            <a:r>
              <a:rPr sz="1100" b="0"/>
              <a:t>LOW — silence / no cognitive interaction; OR talk WITHOUT content engagement (off-topic).</a:t>
            </a:r>
          </a:p>
          <a:p>
            <a:r>
              <a:rPr sz="1100" b="0"/>
              <a:t>MEDIUM — task discussed SUPERFICIALLY: repeating the task, opinions/experiences without reasoning, depth, or connections.</a:t>
            </a:r>
          </a:p>
          <a:p>
            <a:r>
              <a:rPr sz="1100" b="0"/>
              <a:t>HIGH — ELABORATE: prior knowledge, making connections, hypotheticals, out-of-the-box.</a:t>
            </a:r>
          </a:p>
          <a:p>
            <a:r>
              <a:rPr sz="1200" b="1"/>
              <a:t>Rate 0.0–1.0 on 4 axes:  task_relevance · content_depth · reasoning_present · connecting_ideas. Then te_continuous (0–1) and predicted_level (low/medium/high).</a:t>
            </a:r>
          </a:p>
          <a:p>
            <a:r>
              <a:rPr sz="1100" b="0"/>
              <a:t>Output: JSON only — {"task_relevance":_, "content_depth":_, "reasoning_present":_, "connecting_ideas":_, "te_continuous":_, "predicted_level":"low|medium|high"}</a:t>
            </a:r>
          </a:p>
          <a:p>
            <a:r>
              <a:rPr sz="1200" b="1"/>
              <a:t>USER:  Transcript:\n[blue] … [green] … [red] …   (the window's diarized turns, time-ordered)</a:t>
            </a:r>
          </a:p>
          <a:p>
            <a:r>
              <a:rPr sz="1100" b="0"/>
              <a:t>Model: local Qwen3.6-27B, temperature per HF (think: 1.0 / non-think: 0.7), seed 42, JSON-forced. One call per window (~185). Binarize te_continuous at 0.5 for the high/low prediction.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LLM Markers — Worked Examples (Low / Medium / High)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188720"/>
          <a:ext cx="996696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572000"/>
                <a:gridCol w="914400"/>
                <a:gridCol w="822960"/>
                <a:gridCol w="822960"/>
                <a:gridCol w="914400"/>
                <a:gridCol w="640080"/>
                <a:gridCol w="457200"/>
              </a:tblGrid>
              <a:tr h="320040">
                <a:tc>
                  <a:txBody>
                    <a:bodyPr/>
                    <a:lstStyle/>
                    <a:p>
                      <a:r>
                        <a:rPr sz="1000" b="1"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Transcript (excerpt)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task_rel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depth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reason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connect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y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00"/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[red] Aber Wolfgang hat vorher gerade schon seinen typischen Wolfgang. [red] Weißt du, ich konnte gar nicht noch mal so... [green] Welchen? [red] Irge…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00"/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[green] okay [red] Wollen wir einfach anfangen mit Grundschul? [red] Ja, gerne. [blue] Ich muss sagen, also ne, [blue] du hast ja auch bei Lehrplan Pl…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00"/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[green] um alles auszubauen, dann hast du immer wieder diese Schwierigkeiten, das was wir bei unserem Unterrichtsbeispiel hatten, von letzter Woche [g…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292608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• The 4 axes ARE the interpretable output: e.g. Low has task_relevance≈0.1 (off-task hand-gesture chatter); High scores high on all four (reasoning + connecting prior knowledge).</a:t>
            </a:r>
          </a:p>
          <a:p>
            <a:r>
              <a:rPr sz="1100"/>
              <a:t>• These per-axis scores are the features fed to the panel (idea (b)); te_continuous&gt;0.5 is the zero-shot prediction (idea (a)).</a:t>
            </a:r>
          </a:p>
          <a:p>
            <a:r>
              <a:rPr sz="1100"/>
              <a:t>• Medium is the ambiguous band where annotators disagree (weak κ) — kept here, binarized at 0.5.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 pitchFamily="0" charset="1"/>
        <a:ea typeface=""/>
        <a:cs typeface=""/>
      </a:majorFont>
      <a:minorFont>
        <a:latin typeface="Aptos" panose="020B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</TotalTime>
  <Application>LibreOffice/26.2.3.2$Linux_X86_64 LibreOffice_project/d4d5ed47b6084125f28d269a5650105d54dde034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2026-03-02T17:10:27Z</dcterms:created>
  <dc:creator/>
  <dc:description/>
  <dc:language>en-US</dc:language>
  <cp:lastModifiedBy/>
  <dcterms:modified xsi:type="dcterms:W3CDTF">2026-06-01T16:48:43Z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9</vt:i4>
  </property>
</Properties>
</file>