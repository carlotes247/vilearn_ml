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7.xml" ContentType="application/vnd.openxmlformats-officedocument.presentationml.slide+xml"/>
  <Override PartName="/ppt/slides/slide7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9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6200" cy="5808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1360" cy="5808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32A8EF-1804-4C0D-B2D4-CDB117887B7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2720" cy="434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505D23-3FEB-4E59-9227-7F4B851ADB6F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2720" cy="284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2720" cy="1497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2DCC1F-8BE2-47D8-9CD4-E1BF3F158D0D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78600" cy="434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78600" cy="434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892F7DE-86A1-4B48-8E45-A452AE887A8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4840" cy="82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4840" cy="368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0400" cy="82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0400" cy="368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EA207F-EB07-4A50-AA46-AC1B284029F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58A044-BA36-468F-82A0-8DAAA0B82B3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9920" cy="397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1BDDD6-D64A-4E90-BE2D-7EF76E5B791D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1120" cy="238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B25F5B-312B-4B10-BB63-C899799F90A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9920" cy="397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29400" cy="159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69320" cy="487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29400" cy="380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07D7B0-7B24-4194-BE5D-4DA2DC2FCCA6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29400" cy="159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69320" cy="487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29400" cy="380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2D63BB-19DB-4FF6-826C-E8F62A04078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2720" cy="434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07383D-6970-46ED-B417-C07E9A739FD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1120" cy="238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1120" cy="165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17640" cy="242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2720" cy="581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2720" cy="5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212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 w="12240">
                      <a:noFill/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 w="12240">
                      <a:noFill/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Baseline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1440" cy="30816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1440" cy="30816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2480" cy="7372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5040" cy="36072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5040" cy="36072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2720" cy="434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2720" cy="434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440" cy="297432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0640" cy="134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38520" cy="434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0640" cy="134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38520" cy="434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1800" cy="375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3960" cy="375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5832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0200" cy="375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5832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2720" cy="434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2720" cy="434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Feature Modalities (ablation buckets)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94" name="Table 4"/>
          <p:cNvGraphicFramePr/>
          <p:nvPr/>
        </p:nvGraphicFramePr>
        <p:xfrm>
          <a:off x="838080" y="1690200"/>
          <a:ext cx="10514520" cy="1891440"/>
        </p:xfrm>
        <a:graphic>
          <a:graphicData uri="http://schemas.openxmlformats.org/drawingml/2006/table">
            <a:tbl>
              <a:tblPr/>
              <a:tblGrid>
                <a:gridCol w="2240640"/>
                <a:gridCol w="827424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Modality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Features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(7, group-window)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segments/window, words/window, avg word length, question ratio, speech ratio, mean segment duration, unfinished ratio — raw ASR segments, no sentiment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arousal, dominance, valence (group-level v/a/d, derived from audio)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 (prior work)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GazexSpeaking: BPM, blink durations, gaze on speaker / on silent (same all splits); AIxVR per-split sets as second prior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Fusions / tested &amp; rejected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concatenations (audio+linguistic, linguistic+gaze, all three); openSMILE 88, emoW2V + sentiment embeddings all lose to handcrafted (slides on extended sets)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95" name="TextBox 5"/>
          <p:cNvSpPr/>
          <p:nvPr/>
        </p:nvSpPr>
        <p:spPr>
          <a:xfrm>
            <a:off x="838080" y="3718080"/>
            <a:ext cx="105127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Audio is group-shared (one group.audio.wav); the transcript is diarized from it. Speaking attributes the shared signal to each role → folded into linguistic. v/a/d derived from audio → audio. All prediction is at the 60 s group-window level — segment-level and per-role prediction dropped with the individual-TE track.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229680" y="-410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Modality Ablation — Overall (60 s group windows, nested LOSO)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97" name="Table 96"/>
          <p:cNvGraphicFramePr/>
          <p:nvPr/>
        </p:nvGraphicFramePr>
        <p:xfrm>
          <a:off x="379080" y="484920"/>
          <a:ext cx="8777880" cy="4109760"/>
        </p:xfrm>
        <a:graphic>
          <a:graphicData uri="http://schemas.openxmlformats.org/drawingml/2006/table">
            <a:tbl>
              <a:tblPr/>
              <a:tblGrid>
                <a:gridCol w="2743200"/>
                <a:gridCol w="640080"/>
                <a:gridCol w="1097280"/>
                <a:gridCol w="1737360"/>
                <a:gridCol w="731520"/>
                <a:gridCol w="914400"/>
                <a:gridCol w="914400"/>
              </a:tblGrid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AIxVR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± 0.246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0.069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AIED (prior gaze, 4 feat all splits)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0.626 ± 0.247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0.068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0.734 ± 0.238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 v/a/d)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0.663 ± 0.251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(transcript stats)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0.673 ± 0.246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AIED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0.745 ± 0.162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1.39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0.746 ± 0.243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0.743 ± 0.241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0.741 ± 0.258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AIED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0.794 ± 0.152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1.81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± 0.200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1.33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8" name="TextBox 97"/>
          <p:cNvSpPr/>
          <p:nvPr/>
        </p:nvSpPr>
        <p:spPr>
          <a:xfrm>
            <a:off x="365760" y="5029200"/>
            <a:ext cx="11428920" cy="15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Linguistic is the strongest single set (0.771). Strongest fusions: linguistic+AIED 0.794 (d=1.81) and linguistic+GazexSpeaking 0.786 (d=1.33) — statistically tied (paired p=.83): with a text backbone the exact gaze set barely matters. AIxVR stays dominated everywhere (ling+AIxVR 0.741 &lt; 0.771); AIED (prior 4-feature gaze set) sits between AIxVR and GazexSpeaking as a single set.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 FIX: earlier version broadcast the group label onto per-role rows — that diluted text features (a silent listener contributed a zero-word row to an engaged group). Every modality is now aggregated over the whole group window: same unit as the target construct.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Individual-TE prediction track ARCHIVED (labels are single-annotator; group TE has the clean 2-annotator mean). This paper = group TE only.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Per-split tables: next two slides. Extended sets (openSMILE, embeddings): slides 20/22.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98"/>
          <p:cNvSpPr/>
          <p:nvPr/>
        </p:nvSpPr>
        <p:spPr>
          <a:xfrm>
            <a:off x="365760" y="4572720"/>
            <a:ext cx="114289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365760" y="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Modality Ablation — Dyads (60 s group windows, nested LOSO)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01" name="Table 2"/>
          <p:cNvGraphicFramePr/>
          <p:nvPr/>
        </p:nvGraphicFramePr>
        <p:xfrm>
          <a:off x="365760" y="1005840"/>
          <a:ext cx="8777880" cy="4109760"/>
        </p:xfrm>
        <a:graphic>
          <a:graphicData uri="http://schemas.openxmlformats.org/drawingml/2006/table">
            <a:tbl>
              <a:tblPr/>
              <a:tblGrid>
                <a:gridCol w="2743200"/>
                <a:gridCol w="640080"/>
                <a:gridCol w="1097280"/>
                <a:gridCol w="1737360"/>
                <a:gridCol w="731520"/>
                <a:gridCol w="914400"/>
                <a:gridCol w="914400"/>
              </a:tblGrid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AIxVR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0.672 ± 0.195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0.362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AIED (prior gaze, 4 feat all splits)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0.749 ± 0.145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1.06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0.830 ± 0.102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 v/a/d)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0.603 ± 0.232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0.206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0.929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(transcript stats)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± 0.183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± 0.190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AIED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0.791 ± 0.166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1.18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0.810 ± 0.143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1.50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0.639 ± 0.179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0.509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0.656 ± 0.223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AIED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0.815 ± 0.123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1.80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0.842 ± 0.088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2.81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± 0.135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1.41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2" name="TextBox 3"/>
          <p:cNvSpPr/>
          <p:nvPr/>
        </p:nvSpPr>
        <p:spPr>
          <a:xfrm>
            <a:off x="365760" y="5487120"/>
            <a:ext cx="11428920" cy="15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Gaze rules dyads: GazexSpeaking 0.830 best single (t-test sig, perm ns at n=8); linguistic+GazexSpeaking 0.842 is the best dyad detector and the ONLY one significant under both tests.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Audio is flat (0.603, ns both) and drags fusions down (audio+linguistic 0.639 &lt; linguistic 0.680).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n=8 dyad groups — wide variance; treat single-marker cells as trends.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4"/>
          <p:cNvSpPr/>
          <p:nvPr/>
        </p:nvSpPr>
        <p:spPr>
          <a:xfrm>
            <a:off x="365760" y="5115240"/>
            <a:ext cx="114289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230760" y="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Modality Ablation — Triads (60 s group windows, nested LOSO)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05" name="Table 2"/>
          <p:cNvGraphicFramePr/>
          <p:nvPr/>
        </p:nvGraphicFramePr>
        <p:xfrm>
          <a:off x="365760" y="1005840"/>
          <a:ext cx="8777880" cy="4109760"/>
        </p:xfrm>
        <a:graphic>
          <a:graphicData uri="http://schemas.openxmlformats.org/drawingml/2006/table">
            <a:tbl>
              <a:tblPr/>
              <a:tblGrid>
                <a:gridCol w="2743200"/>
                <a:gridCol w="640080"/>
                <a:gridCol w="1097280"/>
                <a:gridCol w="1737360"/>
                <a:gridCol w="731520"/>
                <a:gridCol w="914400"/>
                <a:gridCol w="914400"/>
              </a:tblGrid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AIxVR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0.581 ± 0.253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AIED (prior gaze, 4 feat all splits)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0.628 ± 0.280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0.285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 ± 0.294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 v/a/d)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0.714 ± 0.275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(transcript stats)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0.709 ± 0.263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AIED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0.702 ± 0.209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0.670 ± 0.289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0.141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0.784 ± 0.299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± 0.242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AIED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0.776 ± 0.232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± 0.306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0.757 ± 0.294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6" name="TextBox 3"/>
          <p:cNvSpPr/>
          <p:nvPr/>
        </p:nvSpPr>
        <p:spPr>
          <a:xfrm>
            <a:off x="365760" y="5487120"/>
            <a:ext cx="11428920" cy="15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Gaze-free wins triads: audio+linguistic 0.784 best; linguistic 0.766 best single set. GazexSpeaking drops to 0.695 — gaze needs an unambiguous target; diffuse in 3-person groups.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AIxVR reduces to 1 feature (BPM) in triads — 0.581, uninformative.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Adding gaze to the best fusion hurts: triple 0.757 &lt; audio+linguistic 0.784.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4"/>
          <p:cNvSpPr/>
          <p:nvPr/>
        </p:nvSpPr>
        <p:spPr>
          <a:xfrm>
            <a:off x="303120" y="5096880"/>
            <a:ext cx="114289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2"/>
          <p:cNvSpPr/>
          <p:nvPr/>
        </p:nvSpPr>
        <p:spPr>
          <a:xfrm>
            <a:off x="321120" y="228600"/>
            <a:ext cx="1042128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Main Results — Group-Level TE Detection (185 windows, clean labels)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9" name="Table 106"/>
          <p:cNvGraphicFramePr/>
          <p:nvPr/>
        </p:nvGraphicFramePr>
        <p:xfrm>
          <a:off x="552960" y="1162080"/>
          <a:ext cx="8686440" cy="41148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097280"/>
                <a:gridCol w="1737360"/>
                <a:gridCol w="731520"/>
                <a:gridCol w="914400"/>
                <a:gridCol w="91440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Split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prior gaze (GxS)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0.734 ± 0.238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linguistic+GxS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± 0.200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1.33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linguistic+AIED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0.794 ± 0.152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1.81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prior gaze (GxS)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0.830 ± 0.102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linguistic+GxS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0.842 ± 0.088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2.81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linguistic+AIED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0.815 ± 0.123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1.80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prior gaze (GxS)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 ± 0.294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audio+linguistic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0.784 ± 0.299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linguistic+AIED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0.776 ± 0.232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1.03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0.004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0" name="TextBox 107"/>
          <p:cNvSpPr/>
          <p:nvPr/>
        </p:nvSpPr>
        <p:spPr>
          <a:xfrm>
            <a:off x="457200" y="5715000"/>
            <a:ext cx="11427840" cy="12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Both significance tests reported per the 2026-07-01 decision: permutation (shuffled-label null) and one-sample t-test vs the majority floor; effect size = Cohen's d vs that floor.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 gaze (GazexSpeaking, features from prior work) re-evaluated under the identical protocol — fair comparison, clean labels.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feature-set grid with all sets and second-best models: slides 20 &amp; 22 + c2_paper_table.csv.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Rows are feature SETS, not modalities: GxS itself fuses eye-tracking with speaking status (diarization), AIxVR fuses gaze and blink streams — so we label sets by name (prior / ours / combined), not by modality count.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AIED fusions added 2026-07-10: Overall linguistic+AIED 0.794 and linguistic+GxS 0.786 are statistically tied (paired p=.83) — the text backbone carries the fusion, the exact gaze set is secondary. Triads headline stays audio+linguistic (gaze-free); linguistic+AIED is the d-strongest triad fusion (1.03) at comparable accuracy.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08"/>
          <p:cNvSpPr/>
          <p:nvPr/>
        </p:nvSpPr>
        <p:spPr>
          <a:xfrm>
            <a:off x="457200" y="5259960"/>
            <a:ext cx="114278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365760" y="4716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the Linguistic Detector? (drop-one + coefficients)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13" name="Table 113"/>
          <p:cNvGraphicFramePr/>
          <p:nvPr/>
        </p:nvGraphicFramePr>
        <p:xfrm>
          <a:off x="365760" y="1005840"/>
          <a:ext cx="8412120" cy="219456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  <a:gridCol w="1005840"/>
                <a:gridCol w="1005840"/>
                <a:gridCol w="100584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solo acc (All)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drop-one Δ (All)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coef All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coef 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coef 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segments / window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+0.45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words / window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-0.022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+1.12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+1.28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+0.72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avg word length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question ratio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-0.039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-0.56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-0.64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speech ratio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-0.004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-0.24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+0.18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mean segment duration (s)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0.592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+0.62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+0.92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unfinished ratio (NEW)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+0.33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4" name="TextBox 114"/>
          <p:cNvSpPr/>
          <p:nvPr/>
        </p:nvSpPr>
        <p:spPr>
          <a:xfrm>
            <a:off x="365760" y="3429000"/>
            <a:ext cx="11427840" cy="237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Final 7-feature set (raw ASR segments; words_per_second removed as an exact word-count duplicate). Full set Overall: 0.771 ± 0.210.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Signal stays DISTRIBUTED: best solo = words / window 0.753; no drop-one collapses the score.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question ratio keeps its NEGATIVE sign (more questions → low TE: confusion / clarification-seeking).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NEW unfinished ratio (trail-off '…' / abandoned segments — cognitive-load or interruption marker): solo 0.577, drop-one Δ +0.000, coef All +0.20.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Segments are raw ASR chunks (Whisper-style), NOT sentences: median 1.7 s, 66% end in terminal punctuation. Whisper strips fillers, so classic disfluency counts are unavailable.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65760" y="-1814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 (group-level rerun)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16" name="Table 117"/>
          <p:cNvGraphicFramePr/>
          <p:nvPr/>
        </p:nvGraphicFramePr>
        <p:xfrm>
          <a:off x="502920" y="704880"/>
          <a:ext cx="8686440" cy="438912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097280"/>
                <a:gridCol w="1737360"/>
                <a:gridCol w="731520"/>
                <a:gridCol w="914400"/>
                <a:gridCol w="91440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Split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affect v/a/d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0.663 ± 0.251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embedding (emow2v,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0.651 ± 0.285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linguistic stats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text embedding (sentiment emb,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0.683 ± 0.219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affect v/a/d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0.603 ± 0.232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0.206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0.929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embedding (emow2v,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0.673 ± 0.178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0.196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0.255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linguistic stats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± 0.183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text embedding (sentiment emb,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0.652 ± 0.192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0.427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affect v/a/d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0.714 ± 0.275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embedding (emow2v,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0.746 ± 0.292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linguistic stats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text embedding (sentiment emb,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0.652 ± 0.244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0.132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7" name="TextBox 118"/>
          <p:cNvSpPr/>
          <p:nvPr/>
        </p:nvSpPr>
        <p:spPr>
          <a:xfrm>
            <a:off x="365760" y="5577840"/>
            <a:ext cx="114278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 rerun of the embeddings question (earlier per-role numbers superseded): stream embeddings windowed onto the same 185 windows; PCA inside the nested pipeline (n_components tuned 5/10/20).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Audio: emow2v embedding loses to handcrafted affect v/a/d (0.651 vs 0.663 Overall).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Text: sentiment embedding loses to handcrafted linguistic stats (0.683 vs 0.788 Overall).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Interpretable handcrafted features remain the pre-LLM recommendation.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119"/>
          <p:cNvSpPr/>
          <p:nvPr/>
        </p:nvSpPr>
        <p:spPr>
          <a:xfrm>
            <a:off x="502920" y="5121000"/>
            <a:ext cx="114278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2720" cy="434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= linguistic (text) + audio-derived affect (valence/arousal/dominance) + speaking → a MULTIMODAL detector, not linguistic-only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With harmonized 2-annotator labels + nested CV: multimodal group TE ≈ 0.68 All / 0.70 Triads / 0.65 Dyads — statistically TIED with the prior gaze×speaking QDA (all n.s.); our detector edges triads, gaze edges dyads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Double dissociation holds: group TE ← audio affect (valence/dominance); individual engagement ← (para)linguistic (speaking + text)</a:t>
            </a:r>
            <a:br>
              <a:rPr sz="1500"/>
            </a:b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Prior baseline shown on slides 2–3 is depressed by a 60 Hz label time-stretch bug (e.g. QDA All 0.60 published → 0.67 corrected on harmonized labels)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Embeddings (openSMILE/emoW2V/sentiment, PCA) on top of base: no gain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Open: nothing survives Bonferroni vs chance (n=8–20 underpowered); labels now balanced ~49% high (was 74% skew)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1-year: real-time multimodal per-window TE detector feeding adaptive VR feedback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5160" y="365040"/>
            <a:ext cx="1092960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Significance Depends on the Test (sig → ns → sig)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22" name="Table 3"/>
          <p:cNvGraphicFramePr/>
          <p:nvPr/>
        </p:nvGraphicFramePr>
        <p:xfrm>
          <a:off x="838080" y="1818360"/>
          <a:ext cx="10513440" cy="2303280"/>
        </p:xfrm>
        <a:graphic>
          <a:graphicData uri="http://schemas.openxmlformats.org/drawingml/2006/table">
            <a:tbl>
              <a:tblPr/>
              <a:tblGrid>
                <a:gridCol w="2102760"/>
                <a:gridCol w="1941120"/>
                <a:gridCol w="1132200"/>
                <a:gridCol w="1860120"/>
                <a:gridCol w="1860120"/>
                <a:gridCol w="1617480"/>
              </a:tblGrid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Detector / split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best acc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majority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uniform-dummy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majority 1-samp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permutation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 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SVM 0.68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0.017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0.002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 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LogReg 0.72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0.019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0.058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0.017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QDA 0.70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0.117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0.052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0.003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 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QDA 0.73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0.006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0.001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 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SVM 0.83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0.006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0.000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0.083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NB 0.69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0.144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0.090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0.003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123" name="TextBox 4"/>
          <p:cNvSpPr/>
          <p:nvPr/>
        </p:nvSpPr>
        <p:spPr>
          <a:xfrm>
            <a:off x="813600" y="4250520"/>
            <a:ext cx="10512720" cy="11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All group-level, nested model selection, RAW p (Bonferroni shifts the threshold but not the pattern).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Uniform-dummy = stochastic/gameable floor (prior + our first pass). Majority = deterministic always-predict-majority. Permutation = shuffle-label null (seed-proof).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Verdict flips by method: audio-Triads &amp; gaze-Triads are significant ONLY under permutation; gaze-Dyads LOSES significance under permutation (6-feature null fits shuffled labels). Decision needed: which test do we standardize on?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10512720" cy="60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Detector vs Priors — Singles &amp; Fusions (acc, effect size, both tests)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25" name="TextBox 116"/>
          <p:cNvSpPr/>
          <p:nvPr/>
        </p:nvSpPr>
        <p:spPr>
          <a:xfrm>
            <a:off x="228600" y="960120"/>
            <a:ext cx="5565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6" name="Table 117"/>
          <p:cNvGraphicFramePr/>
          <p:nvPr/>
        </p:nvGraphicFramePr>
        <p:xfrm>
          <a:off x="228600" y="1371600"/>
          <a:ext cx="5760360" cy="2174760"/>
        </p:xfrm>
        <a:graphic>
          <a:graphicData uri="http://schemas.openxmlformats.org/drawingml/2006/table">
            <a:tbl>
              <a:tblPr/>
              <a:tblGrid>
                <a:gridCol w="1600200"/>
                <a:gridCol w="457200"/>
                <a:gridCol w="1234440"/>
                <a:gridCol w="1234440"/>
                <a:gridCol w="1234440"/>
              </a:tblGrid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2/2/1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(0.43)*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0.672 (0.39)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0.581 (0.17)*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AIED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0.626 (0.43)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0.749 (1.06)†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0.628 (0.32)*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0.734 (0.91)*†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0.830 (2.30)†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 (0.54)*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(v/a/d)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0.663 (0.57)*†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0.603 (0.03)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0.714 (0.64)*†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(1.20)*†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(0.46)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(0.94)*†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7" name="TextBox 118"/>
          <p:cNvSpPr/>
          <p:nvPr/>
        </p:nvSpPr>
        <p:spPr>
          <a:xfrm>
            <a:off x="6263640" y="960120"/>
            <a:ext cx="863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Table 119"/>
          <p:cNvGraphicFramePr/>
          <p:nvPr/>
        </p:nvGraphicFramePr>
        <p:xfrm>
          <a:off x="6263640" y="1371600"/>
          <a:ext cx="5760360" cy="2796120"/>
        </p:xfrm>
        <a:graphic>
          <a:graphicData uri="http://schemas.openxmlformats.org/drawingml/2006/table">
            <a:tbl>
              <a:tblPr/>
              <a:tblGrid>
                <a:gridCol w="1600200"/>
                <a:gridCol w="457200"/>
                <a:gridCol w="1234440"/>
                <a:gridCol w="1234440"/>
                <a:gridCol w="1234440"/>
              </a:tblGrid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5/5/4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0.673 (0.63)*†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(0.16)*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0.709 (0.65)*†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audio+AIED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0.745 (1.39)*†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0.791 (1.18)*†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0.702 (0.79)*†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0.746 (0.93)*†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0.810 (1.50)*†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0.670 (0.46)*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0.743 (0.93)*†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0.639 (0.25)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0.784 (0.83)*†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ling+AIxVR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9/9/8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0.741 (0.86)*†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0.656 (0.27)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(0.91)*†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ling+AIED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0.794 (1.81)*†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0.815 (1.80)*†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0.776 (1.03)*†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(1.33)*†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0.842 (2.81)*†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(0.72)*†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audio+ling+GxS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(1.20)*†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(1.41)*†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0.757 (0.75)*†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9" name="TextBox 120"/>
          <p:cNvSpPr/>
          <p:nvPr/>
        </p:nvSpPr>
        <p:spPr>
          <a:xfrm>
            <a:off x="228600" y="4297680"/>
            <a:ext cx="1161144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= accuracy (Cohen's d vs majority floor); * = permutation p&lt;.05, † = one-sample t-test vs majority p&lt;.05. #f = features (All/Dyads/Triads where split-specific). 185 group-windows, clean 2-annotator labels, nested LOSO.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carries the signal: linguistic best base set (All/Triads); ling+GxS best fusion (Dyads 0.842 — only Dyads detector with both markers); Triads best = audio+linguistic (gaze-free).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AIxVR dominated everywhere incl. ling+AIxVR ≤ linguistic alone. Full stats: c2_paper_table.csv.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5200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Raw Acoustics (openSMILE) vs Affect (v/a/d)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31" name="Table 3"/>
          <p:cNvGraphicFramePr/>
          <p:nvPr/>
        </p:nvGraphicFramePr>
        <p:xfrm>
          <a:off x="560880" y="1627920"/>
          <a:ext cx="10423800" cy="256032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2011680"/>
                <a:gridCol w="2377440"/>
                <a:gridCol w="274320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Target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Split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v/a/d (3)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openSMILE (88)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v/a/d + openSMILE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Group 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Group 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Group 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Individual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Individual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Individual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132" name="TextBox 4"/>
          <p:cNvSpPr/>
          <p:nvPr/>
        </p:nvSpPr>
        <p:spPr>
          <a:xfrm>
            <a:off x="457200" y="4206240"/>
            <a:ext cx="10970280" cy="138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Addresses the objection that v/a/d is affect ESTIMATED from audio, not a raw acoustic feature.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openSMILE = 88 interpretable eGeMAPS functionals (F0, loudness, jitter, shimmer, MFCC, spectral flux ...) — raw acoustics, not embeddings.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Result: raw acoustics do NOT beat the affect estimate for group TE (v/a/d 0.69–0.72 &gt; openSMILE 0.57–0.62 across all splits); combining them does not help.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Only individual-All sees a small gain from adding openSMILE (0.64 vs 0.61). 88 features on ~20 sessions also risks overfitting.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Takeaway: the compact 3-dim affect (v/a/d) is the stronger, more parsimonious audio representation — even raw acoustics don't outperform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131"/>
          <p:cNvSpPr/>
          <p:nvPr/>
        </p:nvSpPr>
        <p:spPr>
          <a:xfrm>
            <a:off x="365760" y="6309360"/>
            <a:ext cx="114278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9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Canonical group-level rerun (185 windows, next slide): openSMILE still loses — best (PCA-tuned) 0.598/0.668/0.540 (All/D/T) vs audio v/a/d 0.663/0.603/0.714. In-CV SelectKBest (k tuned 1–88, log grid): 0.602/0.692/0.602 — selection doesn't rescue raw acoustics either; picks converge on loudness/spectral variability (see Extended Feature Sets slide).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229680" y="4716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Extended Feature Sets — Linguistic &amp; Raw Acoustics (canonical protocol)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35" name="Table 126"/>
          <p:cNvGraphicFramePr/>
          <p:nvPr/>
        </p:nvGraphicFramePr>
        <p:xfrm>
          <a:off x="298440" y="1398240"/>
          <a:ext cx="9235080" cy="452124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1097280"/>
                <a:gridCol w="1737360"/>
                <a:gridCol w="731520"/>
                <a:gridCol w="914400"/>
                <a:gridCol w="914400"/>
              </a:tblGrid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Split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 segment stats)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(88 eGeMAPS)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0.576 ± 0.255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0.326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PCA (tuned 5/10/20)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0.598 ± 0.255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0.183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SelectKBest (k tuned 1–88)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0.602 ± 0.213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audio(v/a/d)+openSMILE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0.609 ± 0.188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 segment stats)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± 0.183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(88 eGeMAPS)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0.658 ± 0.205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0.414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PCA (tuned 5/10/20)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0.668 ± 0.216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0.389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0.373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SelectKBest (k tuned 1–88)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0.692 ± 0.169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0.223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0.148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audio(v/a/d)+openSMILE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0.664 ± 0.196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0.887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0.350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 segment stats)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(88 eGeMAPS)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0.567 ± 0.250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PCA (tuned 5/10/20)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0.540 ± 0.231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0.123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0.972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SelectKBest (k tuned 1–88)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0.602 ± 0.212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audio(v/a/d)+openSMILE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0.607 ± 0.272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0.395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6" name="TextBox 127"/>
          <p:cNvSpPr/>
          <p:nvPr/>
        </p:nvSpPr>
        <p:spPr>
          <a:xfrm>
            <a:off x="228960" y="5919120"/>
            <a:ext cx="1142892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Linguistic set (7 surface transcript stats, v2) on the SAME 185-window protocol: Overall 0.771 ± 0.210 (d=1.20, both tests sig) — strongest single pre-LLM modality Overall.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openSMILE raw acoustics fail at group level under every reduction tried INSIDE the nested pipeline (no leakage): PCA (tuned 5/10/20) 0.598/0.668/0.540, SelectKBest (k tuned on a log grid 1–88) 0.602/0.692/0.602 — derived affect (v/a/d) and text stay ahead.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little acoustic signal exists is VARIABILITY, not level: selection picks k≈4 in most folds (Overall 15/20, Triads 9/12) and converges on mfcc1V/spectralFlux/loudness stddevNorm + F0/loudness range — 'lively speech dynamics', the acoustic cousin of word_count. Dyads unstable (k 4–32, n=8). PCA probe agrees: Overall picks the 5-component grid floor 20/20.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ranking: d4_opensmile_ranking.csv; per-fold picks: c2_selection.csv. QDA excluded on high-dim sets (singular covariance).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128"/>
          <p:cNvSpPr/>
          <p:nvPr/>
        </p:nvSpPr>
        <p:spPr>
          <a:xfrm>
            <a:off x="9533520" y="2971800"/>
            <a:ext cx="26578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LLM Rubric Prompt 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(operationalizing the TE schema)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472320" y="2092320"/>
            <a:ext cx="11244600" cy="22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SYSTEM (rubric, verbatim from the study's coding schema):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Rate the TASK ENGAGEMENT of a group's discussion in a 60 s window of a collaborative VR learning task (German transcript, speakers tagged [blue]/[green]/[red]).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LOW — silence / no cognitive interaction; OR talk WITHOUT content engagement (off-topic).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MEDIUM — task discussed SUPERFICIALLY: repeating the task, opinions/experiences without reasoning, depth, or connections.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— ELABORATE: prior knowledge, making connections, hypotheticals, out-of-the-box.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Rate 0.0–1.0 on 4 axes:  task_relevance · content_depth · reasoning_present · connecting_ideas. Then te_continuous (0–1) and predicted_level (low/medium/high).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Output: JSON only — {"task_relevance":_, "content_depth":_, "reasoning_present":_, "connecting_ideas":_, "te_continuous":_, "predicted_level":"low|medium|high"}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USER:  Transcript:\n[blue] … [green] … [red] …   (the window's diarized turns, time-ordered)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Model: local Qwen3.6-27B, temperature per HF (think: 1.0 / non-think: 0.7), seed 42, JSON-forced. One call per window (~185). Binarize te_continuous at 0.5 for the high/low prediction.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Operationalizing the TE Rubric with a 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Local LLM (zero-shot + features)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41" name="Table 3"/>
          <p:cNvGraphicFramePr/>
          <p:nvPr/>
        </p:nvGraphicFramePr>
        <p:xfrm>
          <a:off x="838080" y="1950120"/>
          <a:ext cx="9783720" cy="16920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828800"/>
                <a:gridCol w="1737360"/>
                <a:gridCol w="1097280"/>
                <a:gridCol w="1188720"/>
                <a:gridCol w="914400"/>
                <a:gridCol w="1188720"/>
              </a:tblGrid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Split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Majority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 zero-shot (think/nothink)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 markers (think/nothink)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BERT (text)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Prior gaze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Audio+Gaze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0.74 / 0.75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</a:t>
                      </a: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 / 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0.71 / 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 / 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0.76 / 0.74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0.84</a:t>
                      </a: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 / 0.82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42" name="TextBox 4"/>
          <p:cNvSpPr/>
          <p:nvPr/>
        </p:nvSpPr>
        <p:spPr>
          <a:xfrm>
            <a:off x="838080" y="3871080"/>
            <a:ext cx="9781560" cy="22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Idea: the TE coding schema (Low/Med/High markers) IS a set of linguistic criteria — operationalize it directly with an LLM instead of generic embeddings. </a:t>
            </a:r>
            <a:br>
              <a:rPr sz="1100"/>
            </a:br>
            <a:br>
              <a:rPr sz="1100"/>
            </a:b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Local Qwen3.6-27B (GDPR: on-prem, German transcripts), 60 s group-windows, clean 2-annotator labels.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(a) Zero-shot — rubric + transcript -&gt; TE level, NO training, NO gaze: ~0.74–0.76 All, significant every split (permutation p ≈ .0005). </a:t>
            </a:r>
            <a:br>
              <a:rPr sz="1100"/>
            </a:b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    </a:t>
            </a: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Matches the best multimodal fusion (0.75 All), beats audio alone (0.66). Think and non-think near-identical here.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(b) Marker features — 4 rubric axes (task_relevance, content_depth, reasoning, connecting_ideas) </a:t>
            </a:r>
            <a:br>
              <a:rPr sz="1100"/>
            </a:b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     </a:t>
            </a: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-&gt; same nested LOSO panel: thinking mode All 0.81 / Triads 0.84 — the highest of ANY method/modality here, and above non-think (0.76 / 0.82).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100"/>
            </a:b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Generic German BERT (gbert, frozen embeddings, no rubric) ties it (0.74–0.77) — the signal lives in the text; the rubric makes it training-free AND interpretable (per-axis scores).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100"/>
            </a:b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All group-level, nested LOSO + permutation. Two LLM passes reported (think / non-think); thinking helps the marker features, not zero-shot. NB: Qwen3.6 thinking-EFFORT levels (low/med) are inert on ollama — only on/off differ.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LLM Markers — Worked Examples (Low / Medium / High)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44" name="Table 3"/>
          <p:cNvGraphicFramePr/>
          <p:nvPr/>
        </p:nvGraphicFramePr>
        <p:xfrm>
          <a:off x="838080" y="2011680"/>
          <a:ext cx="9966600" cy="2241360"/>
        </p:xfrm>
        <a:graphic>
          <a:graphicData uri="http://schemas.openxmlformats.org/drawingml/2006/table">
            <a:tbl>
              <a:tblPr/>
              <a:tblGrid>
                <a:gridCol w="822960"/>
                <a:gridCol w="4572000"/>
                <a:gridCol w="914400"/>
                <a:gridCol w="822960"/>
                <a:gridCol w="822960"/>
                <a:gridCol w="914400"/>
                <a:gridCol w="640080"/>
                <a:gridCol w="45720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Level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Transcript (excerpt)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task_rel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depth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reason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connect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Low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[red] Aber Wolfgang hat vorher gerade schon seinen typischen Wolfgang. [red] Weißt du, ich konnte gar nicht noch mal so... [green] Welchen? [red] Irge…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Medium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[green] okay [red] Wollen wir einfach anfangen mit Grundschul? [red] Ja, gerne. [blue] Ich muss sagen, also ne, [blue] du hast ja auch bei Lehrplan Pl…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0.35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0.40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High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[green] um alles auszubauen, dann hast du immer wieder diese Schwierigkeiten, das was wir bei unserem Unterrichtsbeispiel hatten, von letzter Woche [g…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0.95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45" name="TextBox 4"/>
          <p:cNvSpPr/>
          <p:nvPr/>
        </p:nvSpPr>
        <p:spPr>
          <a:xfrm>
            <a:off x="838080" y="4573440"/>
            <a:ext cx="11427480" cy="82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• The 4 axes ARE the interpretable output: e.g. Low has task_relevance≈0.1 (off-task hand-gesture chatter); High scores high on all four (reasoning + connecting prior knowledge).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• These per-axis scores are the features fed to the panel (idea (b)); te_continuous&gt;0.5 is the zero-shot prediction (idea (a)).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• Medium is the ambiguous band where annotators disagree (weak κ) — kept here, binarized at 0.5.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Best Detector per Interaction Size (gaze / audio × LLM fusion)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47" name="Table 2"/>
          <p:cNvGraphicFramePr/>
          <p:nvPr/>
        </p:nvGraphicFramePr>
        <p:xfrm>
          <a:off x="770400" y="2094120"/>
          <a:ext cx="9692280" cy="18288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554480"/>
                <a:gridCol w="1554480"/>
                <a:gridCol w="1097280"/>
                <a:gridCol w="27432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Split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Gaze+LLM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AIxVR+LLM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Best (perm / t-test)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Overall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Gaze+LLM 0.860  (0.003 / &lt;.001)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0.727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0.733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Gaze+LLM 0.869  (0.003 / &lt;.001)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0.826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Audio+LLM 0.864  (0.003 / &lt;.001)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3"/>
          <p:cNvSpPr/>
          <p:nvPr/>
        </p:nvSpPr>
        <p:spPr>
          <a:xfrm>
            <a:off x="365760" y="4206600"/>
            <a:ext cx="11427480" cy="31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Per-split best detector (nested LOSO + permutation + one-sample t-test, clean 2-annotator labels, 185 group-windows):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Overall &amp; Dyads → Gaze(GazexSpeaking)+LLM: 0.860 / 0.869 (both perm≈.003, t-test&lt;.001). Gaze and rubric-text are complementary.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Triads → Audio+LLM 0.864 (gaze-free) BEATS every gaze fusion (Gaze+LLM 0.826). Even LLM alone (0.836) tops gaze fusion here.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WHY: in dyads the gaze target is unambiguous (one partner) so gaze-on-speaker is informative; in triads gaze diffuses (2 targets, mutual gaze rare) and participants focus on speaking, not looking — audio/text carry the signal. See mechanism slide.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AIxVR gaze prior is weak throughout (AIxVR+LLM only competitive on Triads, where any gaze ≈ noise). Triple gaze+vad+LLM in appendix.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Deployment Recommendation by Available Hardware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69920" cy="397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51" name="Table 3"/>
          <p:cNvGraphicFramePr/>
          <p:nvPr/>
        </p:nvGraphicFramePr>
        <p:xfrm>
          <a:off x="844920" y="2094120"/>
          <a:ext cx="8960760" cy="18288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463040"/>
                <a:gridCol w="1463040"/>
                <a:gridCol w="146304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Hardware available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Detector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Overall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Eye-tracker (+ mic)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Gaze+LLM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0.826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Microphone only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Audio+LLM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0.733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Transcript only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LLM rubric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52" name="TextBox 4"/>
          <p:cNvSpPr/>
          <p:nvPr/>
        </p:nvSpPr>
        <p:spPr>
          <a:xfrm>
            <a:off x="365760" y="4343400"/>
            <a:ext cx="114274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Practical takeaway — best deployable detector scales with sensing, not lab gear: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With an eye-tracker → Gaze+LLM: best Overall (0.860) and Dyads (0.869).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Microphone only (no eye-tracker) → Audio+LLM: best Triads (0.864), and within ~0.05 of the eye-tracker rig Overall.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Nothing but a transcript → the training-free LLM rubric alone already reaches 0.81 Overall / 0.84 Triads.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All configs use the same local LLM rubric (Qwen3.6-27B, zero-shot); only the sensor-derived channel changes. Nested LOSO + permutation + t-test, clean labels.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5"/>
          <p:cNvSpPr/>
          <p:nvPr/>
        </p:nvSpPr>
        <p:spPr>
          <a:xfrm>
            <a:off x="457200" y="5486400"/>
            <a:ext cx="1142748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9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Bold = recommended detector for that hardware tier. Accuracies from b1_fusion_priors_llm.csv (group-level, 185 windows).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Gaze Helps Dyads but Not Triads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69920" cy="397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6" name="TextBox 3"/>
          <p:cNvSpPr/>
          <p:nvPr/>
        </p:nvSpPr>
        <p:spPr>
          <a:xfrm>
            <a:off x="457200" y="1600200"/>
            <a:ext cx="11244600" cy="456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Empirical pattern (fusion table): gaze is decisive for DYADS, useless for TRIADS.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Dyads: Gaze+LLM 0.869  &gt;  Audio+LLM 0.733  &gt;  LLM 0.753 — gaze adds a lot.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Triads: Audio+LLM 0.864  &gt;  LLM 0.836  &gt;  Gaze+LLM 0.826 — gaze adds nothing (even hurts vs text alone).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Gaze-alone: Dyads 0.83 (sig) vs Triads 0.70 (weakest prior).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Interpretation — the gaze-on-speaker signal degrades with group size: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In a DYAD the gaze target is unambiguous: there is exactly one other person, so 'looking at the speaker' is a clean, informative cue.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In a TRIAD gaze diffuses across two possible targets; mutual gaze is rarer and turn-taking is faster. Participants engage by TALKING, not by looking — so eye-gaze carries little task-engagement signal.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Speech affect (v/a/d) and rubric-text, by contrast, are unaffected by group size → Audio+LLM wins triads with no eye-tracker at all.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Consequence for deployment: eye-tracking pays off only for pairs; for larger groups a microphone + LLM rubric is both cheaper and more accurate.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132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Appendix — Robustness to Annotation Rate (60 Hz vs 90 Hz)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69920" cy="397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59" name="Table 3"/>
          <p:cNvGraphicFramePr/>
          <p:nvPr/>
        </p:nvGraphicFramePr>
        <p:xfrm>
          <a:off x="518040" y="1865520"/>
          <a:ext cx="10149480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  <a:gridCol w="1554480"/>
                <a:gridCol w="173736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Subset (n groups)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GxS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GxS+LLM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60Hz (12)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0.656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0.602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0.796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0.841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90Hz (8)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0.704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60Hz-T (10)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0.661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0.669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0.821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0.840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90Hz-D (6)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0.578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0.780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0.760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0.774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0.728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160" name="TextBox 4"/>
          <p:cNvSpPr/>
          <p:nvPr/>
        </p:nvSpPr>
        <p:spPr>
          <a:xfrm>
            <a:off x="457560" y="4151160"/>
            <a:ext cx="11427480" cy="24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Split groups by native annotation rate (12× 60 Hz / 8× 90 Hz) to check for a residual of the time-stretch label bug.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CONFOUND: 60 Hz groups are mostly triads (10/12), 90 Hz mostly dyads (6/8) — rate cannot be separated from group size here, so read cautiously.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The LLM rubric detector is RATE- AND TYPE-INVARIANT: 0.81 / 0.80 / 0.82 / 0.76 across all four cells (bold column). The text signal is untouched by annotation rate.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Gaze (GxS) tracks group TYPE, not rate (strong on 90 Hz≈dyads 0.81, weak on 60 Hz≈triads 0.60); audio is weakest and fails on dyads (90 Hz-D 0.58, ns).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under clean 2-annotator labels there is no evidence of a rate artifact; the apparent 60/90 gap in gaze is the dyad/triad confound.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5"/>
          <p:cNvSpPr/>
          <p:nvPr/>
        </p:nvSpPr>
        <p:spPr>
          <a:xfrm>
            <a:off x="457560" y="5486400"/>
            <a:ext cx="1142748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9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Group-level nested LOSO; per-cell permutation + t-test in b2_rate_split.csv.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17235</TotalTime>
  <Application>LibreOffice/26.2.4.2$Linux_X86_64 LibreOffice_project/3346a99e6b841765b75a9b29714a5b95c6761ce3</Application>
  <AppVersion>15.0000</AppVersion>
  <Words>3837</Words>
  <Paragraphs>640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2026-07-10T21:50:46Z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26</vt:i4>
  </property>
</Properties>
</file>