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3" r:id="rId3"/>
    <p:sldId id="257" r:id="rId4"/>
    <p:sldId id="258" r:id="rId5"/>
    <p:sldId id="259" r:id="rId6"/>
    <p:sldId id="262" r:id="rId7"/>
    <p:sldId id="260" r:id="rId8"/>
    <p:sldId id="264" r:id="rId9"/>
    <p:sldId id="261" r:id="rId10"/>
    <p:sldId id="265" r:id="rId15"/>
    <p:sldId id="266" r:id="rId16"/>
    <p:sldId id="267" r:id="rId17"/>
    <p:sldId id="268" r:id="rId18"/>
    <p:sldId id="269" r:id="rId19"/>
    <p:sldId id="27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6/1/2026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err="1"/>
              <a:t>Vilearn</a:t>
            </a:r>
            <a:r>
              <a:rPr lang="en-US"/>
              <a:t> 2026 Next Study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table with numbers and numbers&#10;&#10;AI-generated content may be incorrect.">
            <a:extLst>
              <a:ext uri="{FF2B5EF4-FFF2-40B4-BE49-F238E27FC236}">
                <a16:creationId xmlns:a16="http://schemas.microsoft.com/office/drawing/2014/main" id="{32396271-199A-03FA-8A02-0DAF1D323E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05" y="1180946"/>
            <a:ext cx="10820400" cy="242887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3487D89-7B42-59AF-7CD1-DFDABDA10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8443"/>
            <a:ext cx="10515600" cy="1325563"/>
          </a:xfrm>
        </p:spPr>
        <p:txBody>
          <a:bodyPr/>
          <a:lstStyle/>
          <a:p>
            <a:r>
              <a:rPr lang="en-GB"/>
              <a:t>Results comparison 2026-05-26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937A2-60BF-1C2A-851A-BFF894F65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749409"/>
            <a:ext cx="10515600" cy="584634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GB"/>
              <a:t>ICMI results (submitted, pending review) - ANOVA</a:t>
            </a:r>
          </a:p>
          <a:p>
            <a:endParaRPr lang="en-GB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C05BCB84-76EB-CFE9-097C-546123740E0B}"/>
              </a:ext>
            </a:extLst>
          </p:cNvPr>
          <p:cNvSpPr txBox="1">
            <a:spLocks/>
          </p:cNvSpPr>
          <p:nvPr/>
        </p:nvSpPr>
        <p:spPr>
          <a:xfrm>
            <a:off x="566305" y="3697501"/>
            <a:ext cx="10515600" cy="584634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/>
              <a:t>New results – Multiple Paired t-tests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9D63AAF-023C-C0C5-605B-69B048703D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459473"/>
              </p:ext>
            </p:extLst>
          </p:nvPr>
        </p:nvGraphicFramePr>
        <p:xfrm>
          <a:off x="565134" y="4157391"/>
          <a:ext cx="10663618" cy="2288056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834888">
                  <a:extLst>
                    <a:ext uri="{9D8B030D-6E8A-4147-A177-3AD203B41FA5}">
                      <a16:colId xmlns:a16="http://schemas.microsoft.com/office/drawing/2014/main" val="573384563"/>
                    </a:ext>
                  </a:extLst>
                </a:gridCol>
                <a:gridCol w="1471455">
                  <a:extLst>
                    <a:ext uri="{9D8B030D-6E8A-4147-A177-3AD203B41FA5}">
                      <a16:colId xmlns:a16="http://schemas.microsoft.com/office/drawing/2014/main" val="2231788685"/>
                    </a:ext>
                  </a:extLst>
                </a:gridCol>
                <a:gridCol w="1471455">
                  <a:extLst>
                    <a:ext uri="{9D8B030D-6E8A-4147-A177-3AD203B41FA5}">
                      <a16:colId xmlns:a16="http://schemas.microsoft.com/office/drawing/2014/main" val="1400857551"/>
                    </a:ext>
                  </a:extLst>
                </a:gridCol>
                <a:gridCol w="1471455">
                  <a:extLst>
                    <a:ext uri="{9D8B030D-6E8A-4147-A177-3AD203B41FA5}">
                      <a16:colId xmlns:a16="http://schemas.microsoft.com/office/drawing/2014/main" val="337668157"/>
                    </a:ext>
                  </a:extLst>
                </a:gridCol>
                <a:gridCol w="1471455">
                  <a:extLst>
                    <a:ext uri="{9D8B030D-6E8A-4147-A177-3AD203B41FA5}">
                      <a16:colId xmlns:a16="http://schemas.microsoft.com/office/drawing/2014/main" val="1753353054"/>
                    </a:ext>
                  </a:extLst>
                </a:gridCol>
                <a:gridCol w="1471455">
                  <a:extLst>
                    <a:ext uri="{9D8B030D-6E8A-4147-A177-3AD203B41FA5}">
                      <a16:colId xmlns:a16="http://schemas.microsoft.com/office/drawing/2014/main" val="3420613569"/>
                    </a:ext>
                  </a:extLst>
                </a:gridCol>
                <a:gridCol w="1471455">
                  <a:extLst>
                    <a:ext uri="{9D8B030D-6E8A-4147-A177-3AD203B41FA5}">
                      <a16:colId xmlns:a16="http://schemas.microsoft.com/office/drawing/2014/main" val="1062422648"/>
                    </a:ext>
                  </a:extLst>
                </a:gridCol>
              </a:tblGrid>
              <a:tr h="627898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12700">
                      <a:solidFill>
                        <a:schemeClr val="tx1"/>
                      </a:solidFill>
                    </a:lnR>
                    <a:lnT w="0">
                      <a:noFill/>
                    </a:lnT>
                    <a:lnB w="0"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D-</a:t>
                      </a:r>
                      <a:r>
                        <a:rPr lang="en-US" b="1" err="1">
                          <a:effectLst/>
                        </a:rPr>
                        <a:t>GazexSpeaking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T-</a:t>
                      </a:r>
                      <a:r>
                        <a:rPr lang="en-US" b="1" err="1">
                          <a:effectLst/>
                        </a:rPr>
                        <a:t>GazexSpeaking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All-</a:t>
                      </a:r>
                      <a:r>
                        <a:rPr lang="en-US" b="1" err="1">
                          <a:effectLst/>
                        </a:rPr>
                        <a:t>GazexSpeaking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8518282"/>
                  </a:ext>
                </a:extLst>
              </a:tr>
              <a:tr h="261624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>
                        <a:effectLst/>
                      </a:endParaRPr>
                    </a:p>
                  </a:txBody>
                  <a:tcPr marL="0" marR="0" marT="0" marB="0" anchor="ctr">
                    <a:lnL w="0">
                      <a:noFill/>
                    </a:lnL>
                    <a:lnR w="12700">
                      <a:solidFill>
                        <a:schemeClr val="tx1"/>
                      </a:solidFill>
                    </a:lnR>
                    <a:lnT w="0">
                      <a:noFill/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M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SD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M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SD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M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SD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403674"/>
                  </a:ext>
                </a:extLst>
              </a:tr>
              <a:tr h="418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Baseline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0.53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0.10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0.43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0.11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0.45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0.13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57352348"/>
                  </a:ext>
                </a:extLst>
              </a:tr>
              <a:tr h="2616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SVM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0.66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0.15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0.63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0.21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0.62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0.23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9362367"/>
                  </a:ext>
                </a:extLst>
              </a:tr>
              <a:tr h="41859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Naive Bayes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-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-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0.62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0.13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-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-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5681427"/>
                  </a:ext>
                </a:extLst>
              </a:tr>
              <a:tr h="2616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</a:rPr>
                        <a:t>QDA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-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-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-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>
                          <a:effectLst/>
                        </a:rPr>
                        <a:t>-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0.60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b="1">
                          <a:effectLst/>
                        </a:rPr>
                        <a:t>0.17</a:t>
                      </a:r>
                    </a:p>
                  </a:txBody>
                  <a:tcPr marL="0" marR="0" marT="0" marB="0" anchor="ctr">
                    <a:lnL w="12700">
                      <a:solidFill>
                        <a:schemeClr val="tx1"/>
                      </a:solidFill>
                    </a:lnL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1679914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137328E2-69FF-010B-4C58-495CA6C09826}"/>
              </a:ext>
            </a:extLst>
          </p:cNvPr>
          <p:cNvSpPr/>
          <p:nvPr/>
        </p:nvSpPr>
        <p:spPr>
          <a:xfrm>
            <a:off x="2334171" y="2386724"/>
            <a:ext cx="1804276" cy="31093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287432-7A1A-A769-7BA7-F6C286099FCF}"/>
              </a:ext>
            </a:extLst>
          </p:cNvPr>
          <p:cNvSpPr/>
          <p:nvPr/>
        </p:nvSpPr>
        <p:spPr>
          <a:xfrm>
            <a:off x="2334170" y="3288861"/>
            <a:ext cx="1804276" cy="31093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983C8F-FDDF-6E89-D32A-DC4CE9C86BA7}"/>
              </a:ext>
            </a:extLst>
          </p:cNvPr>
          <p:cNvSpPr/>
          <p:nvPr/>
        </p:nvSpPr>
        <p:spPr>
          <a:xfrm>
            <a:off x="5329617" y="5504791"/>
            <a:ext cx="2925378" cy="74010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4D27098-D3EA-7337-EBAF-640F8521B108}"/>
              </a:ext>
            </a:extLst>
          </p:cNvPr>
          <p:cNvSpPr/>
          <p:nvPr/>
        </p:nvSpPr>
        <p:spPr>
          <a:xfrm>
            <a:off x="8254995" y="5478913"/>
            <a:ext cx="2977929" cy="36348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B2C1F62-694F-C159-D529-E36B0198648B}"/>
              </a:ext>
            </a:extLst>
          </p:cNvPr>
          <p:cNvSpPr/>
          <p:nvPr/>
        </p:nvSpPr>
        <p:spPr>
          <a:xfrm>
            <a:off x="8254994" y="6196720"/>
            <a:ext cx="2977929" cy="363481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99996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25B103-C8D5-4174-A17F-7E78B78BE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Current Features (Group Level) 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605588-5CD5-505A-9E08-D1A43902C6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3 Mutually Exclusive Gaze Configs (MG, DG, </a:t>
            </a:r>
            <a:r>
              <a:rPr lang="en-US" err="1"/>
              <a:t>No_DG</a:t>
            </a:r>
            <a:r>
              <a:rPr lang="en-US"/>
              <a:t>)</a:t>
            </a:r>
          </a:p>
          <a:p>
            <a:r>
              <a:rPr lang="en-US"/>
              <a:t>Blink Rate</a:t>
            </a:r>
          </a:p>
          <a:p>
            <a:r>
              <a:rPr lang="en-US"/>
              <a:t>Blink Duration</a:t>
            </a:r>
          </a:p>
          <a:p>
            <a:endParaRPr lang="en-US"/>
          </a:p>
          <a:p>
            <a:r>
              <a:rPr lang="en-US"/>
              <a:t>Current Detector accuracy (QDA): </a:t>
            </a:r>
          </a:p>
          <a:p>
            <a:pPr lvl="1" indent="-342900">
              <a:buFont typeface="Courier New" panose="020B0604020202020204" pitchFamily="34" charset="0"/>
              <a:buChar char="o"/>
            </a:pPr>
            <a:r>
              <a:rPr lang="en-US"/>
              <a:t>Dyads overall accuracy: 77%</a:t>
            </a:r>
          </a:p>
          <a:p>
            <a:pPr lvl="1" indent="-342900">
              <a:buFont typeface="Courier New" panose="020B0604020202020204" pitchFamily="34" charset="0"/>
              <a:buChar char="o"/>
            </a:pPr>
            <a:r>
              <a:rPr lang="en-US"/>
              <a:t>High TE class accuracy: </a:t>
            </a:r>
            <a:r>
              <a:rPr lang="en-US">
                <a:ea typeface="+mn-lt"/>
                <a:cs typeface="+mn-lt"/>
              </a:rPr>
              <a:t>58.82%, High TE precision: 83.34%</a:t>
            </a:r>
          </a:p>
          <a:p>
            <a:pPr lvl="1" indent="-342900">
              <a:buFont typeface="Courier New" panose="020B0604020202020204" pitchFamily="34" charset="0"/>
              <a:buChar char="o"/>
            </a:pPr>
            <a:r>
              <a:rPr lang="en-US"/>
              <a:t>Low TE class accuracy: </a:t>
            </a:r>
            <a:r>
              <a:rPr lang="en-US">
                <a:ea typeface="+mn-lt"/>
                <a:cs typeface="+mn-lt"/>
              </a:rPr>
              <a:t>91.3%,</a:t>
            </a:r>
            <a:r>
              <a:rPr lang="en-US"/>
              <a:t> Low TE precision: 75%</a:t>
            </a:r>
          </a:p>
          <a:p>
            <a:pPr lvl="1" indent="-342900">
              <a:buFont typeface="Courier New" panose="020B0604020202020204" pitchFamily="34" charset="0"/>
              <a:buChar char="o"/>
            </a:pPr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4771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6A4086-A09F-FBFA-B736-E84BC8A373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Suggested Paralinguistic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69C60B-6050-EE40-9BC7-53D54486C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b="1"/>
              <a:t>Speaking-listening </a:t>
            </a:r>
            <a:r>
              <a:rPr lang="en-US" b="1" err="1"/>
              <a:t>behaviour</a:t>
            </a:r>
            <a:endParaRPr lang="en-US" b="1"/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3 mutually exclusive speaking-listening configurations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Speaking (SP), Full-Silence (SI), Overlap (OL)</a:t>
            </a:r>
          </a:p>
          <a:p>
            <a:pPr marL="0" indent="0">
              <a:buNone/>
            </a:pP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endParaRPr lang="en-US"/>
          </a:p>
          <a:p>
            <a:endParaRPr lang="en-US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77961BB-551F-7026-B0DC-F9A1BCBDFA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9683925"/>
              </p:ext>
            </p:extLst>
          </p:nvPr>
        </p:nvGraphicFramePr>
        <p:xfrm>
          <a:off x="1359848" y="3430689"/>
          <a:ext cx="8011980" cy="2975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396">
                  <a:extLst>
                    <a:ext uri="{9D8B030D-6E8A-4147-A177-3AD203B41FA5}">
                      <a16:colId xmlns:a16="http://schemas.microsoft.com/office/drawing/2014/main" val="3709395600"/>
                    </a:ext>
                  </a:extLst>
                </a:gridCol>
                <a:gridCol w="1602396">
                  <a:extLst>
                    <a:ext uri="{9D8B030D-6E8A-4147-A177-3AD203B41FA5}">
                      <a16:colId xmlns:a16="http://schemas.microsoft.com/office/drawing/2014/main" val="1043425595"/>
                    </a:ext>
                  </a:extLst>
                </a:gridCol>
                <a:gridCol w="1602396">
                  <a:extLst>
                    <a:ext uri="{9D8B030D-6E8A-4147-A177-3AD203B41FA5}">
                      <a16:colId xmlns:a16="http://schemas.microsoft.com/office/drawing/2014/main" val="3022768128"/>
                    </a:ext>
                  </a:extLst>
                </a:gridCol>
                <a:gridCol w="1602396">
                  <a:extLst>
                    <a:ext uri="{9D8B030D-6E8A-4147-A177-3AD203B41FA5}">
                      <a16:colId xmlns:a16="http://schemas.microsoft.com/office/drawing/2014/main" val="1413240001"/>
                    </a:ext>
                  </a:extLst>
                </a:gridCol>
                <a:gridCol w="1602396">
                  <a:extLst>
                    <a:ext uri="{9D8B030D-6E8A-4147-A177-3AD203B41FA5}">
                      <a16:colId xmlns:a16="http://schemas.microsoft.com/office/drawing/2014/main" val="3382547750"/>
                    </a:ext>
                  </a:extLst>
                </a:gridCol>
              </a:tblGrid>
              <a:tr h="495894">
                <a:tc>
                  <a:txBody>
                    <a:bodyPr/>
                    <a:lstStyle/>
                    <a:p>
                      <a:pPr lvl="0">
                        <a:buNone/>
                      </a:pPr>
                      <a:endParaRPr lang="en-US"/>
                    </a:p>
                  </a:txBody>
                  <a:tcPr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Dyads</a:t>
                      </a:r>
                    </a:p>
                  </a:txBody>
                  <a:tcPr>
                    <a:lnR w="12700">
                      <a:solidFill>
                        <a:schemeClr val="tx1"/>
                      </a:solidFill>
                    </a:lnR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Triads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542826"/>
                  </a:ext>
                </a:extLst>
              </a:tr>
              <a:tr h="495894">
                <a:tc>
                  <a:txBody>
                    <a:bodyPr/>
                    <a:lstStyle/>
                    <a:p>
                      <a:pPr marL="0" lvl="0" algn="l" defTabSz="914400" rtl="0" eaLnBrk="1" latinLnBrk="0" hangingPunct="1">
                        <a:buNone/>
                      </a:pPr>
                      <a:endParaRPr lang="en-US" sz="1800" b="1" kern="1200">
                        <a:solidFill>
                          <a:schemeClr val="lt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0" hangingPunct="1">
                        <a:buNone/>
                      </a:pPr>
                      <a:r>
                        <a:rPr lang="en-US"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Speakers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0" hangingPunct="1">
                        <a:buNone/>
                      </a:pPr>
                      <a:r>
                        <a:rPr lang="en-US"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Silent</a:t>
                      </a:r>
                    </a:p>
                  </a:txBody>
                  <a:tcPr>
                    <a:lnR w="12700">
                      <a:solidFill>
                        <a:schemeClr val="tx1"/>
                      </a:solidFill>
                    </a:ln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0" hangingPunct="1">
                        <a:buNone/>
                      </a:pPr>
                      <a:r>
                        <a:rPr lang="en-US"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Speakers 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0" hangingPunct="1">
                        <a:buNone/>
                      </a:pPr>
                      <a:r>
                        <a:rPr lang="en-US" sz="1800" b="1" kern="120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Silent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4405242"/>
                  </a:ext>
                </a:extLst>
              </a:tr>
              <a:tr h="495894">
                <a:tc>
                  <a:txBody>
                    <a:bodyPr/>
                    <a:lstStyle/>
                    <a:p>
                      <a:r>
                        <a:rPr lang="en-US" b="1"/>
                        <a:t>SP</a:t>
                      </a:r>
                    </a:p>
                  </a:txBody>
                  <a:tcPr>
                    <a:lnR w="12700">
                      <a:solidFill>
                        <a:schemeClr val="tx1"/>
                      </a:solidFill>
                    </a:lnR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</a:t>
                      </a:r>
                    </a:p>
                  </a:txBody>
                  <a:tcPr>
                    <a:lnR w="12700">
                      <a:solidFill>
                        <a:schemeClr val="tx1"/>
                      </a:solidFill>
                    </a:lnR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2</a:t>
                      </a:r>
                    </a:p>
                  </a:txBody>
                  <a:tcPr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66700835"/>
                  </a:ext>
                </a:extLst>
              </a:tr>
              <a:tr h="495894">
                <a:tc>
                  <a:txBody>
                    <a:bodyPr/>
                    <a:lstStyle/>
                    <a:p>
                      <a:r>
                        <a:rPr lang="en-US" b="1"/>
                        <a:t>SI</a:t>
                      </a:r>
                    </a:p>
                  </a:txBody>
                  <a:tcPr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0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0</a:t>
                      </a:r>
                    </a:p>
                  </a:txBody>
                  <a:tcPr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0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0</a:t>
                      </a:r>
                    </a:p>
                  </a:txBody>
                  <a:tcPr>
                    <a:lnT w="12700">
                      <a:solidFill>
                        <a:schemeClr val="tx1"/>
                      </a:solidFill>
                    </a:lnT>
                    <a:lnB w="12700">
                      <a:solidFill>
                        <a:schemeClr val="tx1"/>
                      </a:solidFill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18887783"/>
                  </a:ext>
                </a:extLst>
              </a:tr>
              <a:tr h="495894">
                <a:tc rowSpan="2">
                  <a:txBody>
                    <a:bodyPr/>
                    <a:lstStyle/>
                    <a:p>
                      <a:r>
                        <a:rPr lang="en-US" b="1"/>
                        <a:t>OL</a:t>
                      </a:r>
                    </a:p>
                  </a:txBody>
                  <a:tcPr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2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T w="12700">
                      <a:solidFill>
                        <a:schemeClr val="tx1"/>
                      </a:solidFill>
                    </a:lnT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0</a:t>
                      </a:r>
                    </a:p>
                  </a:txBody>
                  <a:tcPr>
                    <a:lnR w="12700">
                      <a:solidFill>
                        <a:schemeClr val="tx1"/>
                      </a:solidFill>
                    </a:lnR>
                    <a:lnT w="12700">
                      <a:solidFill>
                        <a:schemeClr val="tx1"/>
                      </a:solidFill>
                    </a:lnT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2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lnT w="12700">
                      <a:solidFill>
                        <a:schemeClr val="tx1"/>
                      </a:solidFill>
                    </a:lnT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1</a:t>
                      </a:r>
                    </a:p>
                  </a:txBody>
                  <a:tcPr>
                    <a:lnT w="12700">
                      <a:solidFill>
                        <a:schemeClr val="tx1"/>
                      </a:solidFill>
                    </a:lnT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4653787"/>
                  </a:ext>
                </a:extLst>
              </a:tr>
              <a:tr h="495894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-</a:t>
                      </a:r>
                    </a:p>
                  </a:txBody>
                  <a:tcPr>
                    <a:lnR w="12700">
                      <a:solidFill>
                        <a:schemeClr val="tx1"/>
                      </a:solidFill>
                    </a:lnR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3</a:t>
                      </a:r>
                    </a:p>
                  </a:txBody>
                  <a:tcPr>
                    <a:lnL w="12700">
                      <a:solidFill>
                        <a:schemeClr val="tx1"/>
                      </a:solidFill>
                    </a:lnL>
                    <a:solidFill>
                      <a:schemeClr val="bg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/>
                        <a:t>0</a:t>
                      </a:r>
                    </a:p>
                  </a:txBody>
                  <a:tcPr>
                    <a:solidFill>
                      <a:schemeClr val="bg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44536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72623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327E2A-12CD-A961-6334-7293FBD950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393" y="365125"/>
            <a:ext cx="11603515" cy="1348514"/>
          </a:xfrm>
        </p:spPr>
        <p:txBody>
          <a:bodyPr/>
          <a:lstStyle/>
          <a:p>
            <a:r>
              <a:rPr lang="en-US"/>
              <a:t>Gaze Configs x Speaking-Listening Configs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43B3B3-7370-EC64-90BD-814A4E578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321" y="1825625"/>
            <a:ext cx="10841515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3 Gaze Configs (MG, DG, </a:t>
            </a:r>
            <a:r>
              <a:rPr lang="en-US" err="1"/>
              <a:t>No_DG</a:t>
            </a:r>
            <a:r>
              <a:rPr lang="en-US"/>
              <a:t>) x 3 Speaking Configs (SP, SI, OL) = 9 Mutually Exclusive Configs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MG_SP, MG_SI, MG_OL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DG_SP, DG_SI, DG_OL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No_DG_SP</a:t>
            </a:r>
            <a:r>
              <a:rPr lang="en-US"/>
              <a:t>, </a:t>
            </a:r>
            <a:r>
              <a:rPr lang="en-US" err="1"/>
              <a:t>No_DG_SI</a:t>
            </a:r>
            <a:r>
              <a:rPr lang="en-US"/>
              <a:t>, </a:t>
            </a:r>
            <a:r>
              <a:rPr lang="en-US" err="1"/>
              <a:t>No_DG_OL</a:t>
            </a:r>
            <a:endParaRPr lang="en-US"/>
          </a:p>
          <a:p>
            <a:pPr lvl="1">
              <a:buFont typeface="Courier New" panose="020B0604020202020204" pitchFamily="34" charset="0"/>
              <a:buChar char="o"/>
            </a:pPr>
            <a:endParaRPr lang="en-US"/>
          </a:p>
          <a:p>
            <a:r>
              <a:rPr lang="en-US" b="1">
                <a:ea typeface="+mn-lt"/>
                <a:cs typeface="+mn-lt"/>
              </a:rPr>
              <a:t>RQs: </a:t>
            </a:r>
            <a:endParaRPr lang="en-US">
              <a:ea typeface="+mn-lt"/>
              <a:cs typeface="+mn-lt"/>
            </a:endParaRPr>
          </a:p>
          <a:p>
            <a:pPr lvl="1" indent="-342900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How do TE values differ between all 9 configs?</a:t>
            </a:r>
            <a:endParaRPr lang="en-US"/>
          </a:p>
          <a:p>
            <a:pPr lvl="1" indent="-342900">
              <a:buFont typeface="Courier New" panose="020B0604020202020204" pitchFamily="34" charset="0"/>
              <a:buChar char="o"/>
            </a:pPr>
            <a:r>
              <a:rPr lang="en-US">
                <a:ea typeface="+mn-lt"/>
                <a:cs typeface="+mn-lt"/>
              </a:rPr>
              <a:t>How well does a classifier learn to detect TE with these features?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7449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39CBB6-B5DF-7222-6E3D-9BCE8FBFA8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7E6717-CC1A-AC04-019E-91D2DFAF8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393" y="365125"/>
            <a:ext cx="11603515" cy="1348514"/>
          </a:xfrm>
        </p:spPr>
        <p:txBody>
          <a:bodyPr/>
          <a:lstStyle/>
          <a:p>
            <a:r>
              <a:rPr lang="en-US"/>
              <a:t>Comments from Meeting</a:t>
            </a:r>
            <a:br>
              <a:rPr lang="en-US"/>
            </a:br>
            <a:r>
              <a:rPr lang="en-US"/>
              <a:t>Gaze Configs x Speaking-Silent Configs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190A33-5F39-B2D6-8A8F-2BB214797E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0321" y="1825625"/>
            <a:ext cx="10841515" cy="4351338"/>
          </a:xfrm>
        </p:spPr>
        <p:txBody>
          <a:bodyPr vert="horz" lIns="91440" tIns="45720" rIns="91440" bIns="45720" rtlCol="0" anchor="t">
            <a:normAutofit fontScale="77500" lnSpcReduction="20000"/>
          </a:bodyPr>
          <a:lstStyle/>
          <a:p>
            <a:r>
              <a:rPr lang="en-US"/>
              <a:t>SI</a:t>
            </a:r>
          </a:p>
          <a:p>
            <a:pPr lvl="1" indent="-342900">
              <a:buFont typeface="Courier New" panose="020B0604020202020204" pitchFamily="34" charset="0"/>
              <a:buChar char="o"/>
            </a:pPr>
            <a:r>
              <a:rPr lang="en-US"/>
              <a:t>G_SI (G means either MG or DG)</a:t>
            </a:r>
          </a:p>
          <a:p>
            <a:pPr lvl="1" indent="-342900">
              <a:buFont typeface="Courier New" panose="020B0604020202020204" pitchFamily="34" charset="0"/>
              <a:buChar char="o"/>
            </a:pPr>
            <a:r>
              <a:rPr lang="en-US" err="1"/>
              <a:t>No_G_SI</a:t>
            </a:r>
            <a:r>
              <a:rPr lang="en-US"/>
              <a:t> (no G, no talk)</a:t>
            </a:r>
          </a:p>
          <a:p>
            <a:r>
              <a:rPr lang="en-US"/>
              <a:t>SP</a:t>
            </a:r>
          </a:p>
          <a:p>
            <a:pPr lvl="1" indent="-342900">
              <a:buFont typeface="Courier New" panose="020B0604020202020204" pitchFamily="34" charset="0"/>
              <a:buChar char="o"/>
            </a:pPr>
            <a:r>
              <a:rPr lang="en-US" err="1"/>
              <a:t>G_OnSpeaker_SP</a:t>
            </a:r>
            <a:r>
              <a:rPr lang="en-US"/>
              <a:t> </a:t>
            </a:r>
          </a:p>
          <a:p>
            <a:pPr lvl="1" indent="-342900">
              <a:buFont typeface="Courier New" panose="020B0604020202020204" pitchFamily="34" charset="0"/>
              <a:buChar char="o"/>
            </a:pPr>
            <a:r>
              <a:rPr lang="en-US" err="1"/>
              <a:t>No_G_OnSpeaker_SP</a:t>
            </a:r>
          </a:p>
          <a:p>
            <a:r>
              <a:rPr lang="en-US"/>
              <a:t>OL</a:t>
            </a:r>
          </a:p>
          <a:p>
            <a:pPr lvl="1" indent="-342900">
              <a:buFont typeface="Courier New" panose="020B0604020202020204" pitchFamily="34" charset="0"/>
              <a:buChar char="o"/>
            </a:pPr>
            <a:r>
              <a:rPr lang="en-US" err="1"/>
              <a:t>G_OnSpeaker_OL</a:t>
            </a:r>
            <a:r>
              <a:rPr lang="en-US"/>
              <a:t> (only for dyads potentially because it might be too complex for triads)</a:t>
            </a:r>
          </a:p>
          <a:p>
            <a:r>
              <a:rPr lang="en-US"/>
              <a:t>Do we have a way to detect listening beyond </a:t>
            </a:r>
            <a:r>
              <a:rPr lang="en-US" err="1"/>
              <a:t>G_OnSpeaker_SP</a:t>
            </a:r>
            <a:r>
              <a:rPr lang="en-US"/>
              <a:t>?</a:t>
            </a:r>
          </a:p>
          <a:p>
            <a:endParaRPr lang="en-US"/>
          </a:p>
          <a:p>
            <a:r>
              <a:rPr lang="en-US"/>
              <a:t>9 Mutually Exclusive Configs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MG_SP, MG_SI, MG_OL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/>
              <a:t>DG_SP, DG_SI, DG_OL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err="1"/>
              <a:t>No_DG_SP</a:t>
            </a:r>
            <a:r>
              <a:rPr lang="en-US"/>
              <a:t>, </a:t>
            </a:r>
            <a:r>
              <a:rPr lang="en-US" err="1"/>
              <a:t>No_DG_SI</a:t>
            </a:r>
            <a:r>
              <a:rPr lang="en-US"/>
              <a:t>, </a:t>
            </a:r>
            <a:r>
              <a:rPr lang="en-US" err="1"/>
              <a:t>No_DG_OL</a:t>
            </a:r>
            <a:endParaRPr lang="en-US"/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50270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353C-A103-CED7-90B5-336B8E9562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Suggested Linguistic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9E34B-A57E-FB26-28D7-D4F077B303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9938" y="2362772"/>
            <a:ext cx="4144782" cy="37600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Purely linguistic</a:t>
            </a:r>
          </a:p>
          <a:p>
            <a:pPr lvl="1"/>
            <a:r>
              <a:rPr lang="en-US" err="1">
                <a:ea typeface="+mn-lt"/>
                <a:cs typeface="+mn-lt"/>
              </a:rPr>
              <a:t>segment_duration_s</a:t>
            </a:r>
            <a:r>
              <a:rPr lang="en-US">
                <a:ea typeface="+mn-lt"/>
                <a:cs typeface="+mn-lt"/>
              </a:rPr>
              <a:t> </a:t>
            </a:r>
            <a:endParaRPr lang="en-US" err="1"/>
          </a:p>
          <a:p>
            <a:pPr lvl="1"/>
            <a:r>
              <a:rPr lang="en-US" err="1">
                <a:ea typeface="+mn-lt"/>
                <a:cs typeface="+mn-lt"/>
              </a:rPr>
              <a:t>word_count</a:t>
            </a:r>
            <a:r>
              <a:rPr lang="en-US">
                <a:ea typeface="+mn-lt"/>
                <a:cs typeface="+mn-lt"/>
              </a:rPr>
              <a:t>     </a:t>
            </a:r>
            <a:endParaRPr lang="en-US"/>
          </a:p>
          <a:p>
            <a:pPr lvl="1"/>
            <a:r>
              <a:rPr lang="en-US" err="1">
                <a:ea typeface="+mn-lt"/>
                <a:cs typeface="+mn-lt"/>
              </a:rPr>
              <a:t>avg_word_length</a:t>
            </a:r>
            <a:r>
              <a:rPr lang="en-US">
                <a:ea typeface="+mn-lt"/>
                <a:cs typeface="+mn-lt"/>
              </a:rPr>
              <a:t> </a:t>
            </a:r>
            <a:endParaRPr lang="en-US"/>
          </a:p>
          <a:p>
            <a:pPr lvl="1"/>
            <a:r>
              <a:rPr lang="en-US" err="1">
                <a:ea typeface="+mn-lt"/>
                <a:cs typeface="+mn-lt"/>
              </a:rPr>
              <a:t>words_per_second</a:t>
            </a:r>
            <a:r>
              <a:rPr lang="en-US">
                <a:ea typeface="+mn-lt"/>
                <a:cs typeface="+mn-lt"/>
              </a:rPr>
              <a:t>  </a:t>
            </a:r>
            <a:endParaRPr lang="en-US"/>
          </a:p>
          <a:p>
            <a:pPr lvl="1"/>
            <a:r>
              <a:rPr lang="en-US">
                <a:ea typeface="+mn-lt"/>
                <a:cs typeface="+mn-lt"/>
              </a:rPr>
              <a:t>question                 </a:t>
            </a:r>
            <a:endParaRPr lang="en-US"/>
          </a:p>
          <a:p>
            <a:pPr lvl="1"/>
            <a:r>
              <a:rPr lang="en-US">
                <a:ea typeface="+mn-lt"/>
                <a:cs typeface="+mn-lt"/>
              </a:rPr>
              <a:t>statement                </a:t>
            </a:r>
            <a:endParaRPr lang="en-US" err="1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144C19D0-C136-731D-1119-7FCBA4CD0509}"/>
              </a:ext>
            </a:extLst>
          </p:cNvPr>
          <p:cNvSpPr txBox="1">
            <a:spLocks/>
          </p:cNvSpPr>
          <p:nvPr/>
        </p:nvSpPr>
        <p:spPr>
          <a:xfrm>
            <a:off x="5171189" y="2361106"/>
            <a:ext cx="6666870" cy="37600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/>
            <a:r>
              <a:rPr lang="en-US">
                <a:ea typeface="+mn-lt"/>
                <a:cs typeface="+mn-lt"/>
              </a:rPr>
              <a:t>Affective derived from  linguistic</a:t>
            </a:r>
          </a:p>
          <a:p>
            <a:pPr marL="800100" lvl="1" indent="-342900"/>
            <a:r>
              <a:rPr lang="en-US" err="1">
                <a:ea typeface="+mn-lt"/>
                <a:cs typeface="+mn-lt"/>
              </a:rPr>
              <a:t>sentiment_p_blue_mean</a:t>
            </a:r>
            <a:r>
              <a:rPr lang="en-US">
                <a:ea typeface="+mn-lt"/>
                <a:cs typeface="+mn-lt"/>
              </a:rPr>
              <a:t>   </a:t>
            </a:r>
            <a:endParaRPr lang="en-US"/>
          </a:p>
          <a:p>
            <a:pPr marL="800100" lvl="1" indent="-342900"/>
            <a:r>
              <a:rPr lang="en-US" err="1">
                <a:ea typeface="+mn-lt"/>
                <a:cs typeface="+mn-lt"/>
              </a:rPr>
              <a:t>sentiment_p_green_mean</a:t>
            </a:r>
            <a:r>
              <a:rPr lang="en-US">
                <a:ea typeface="+mn-lt"/>
                <a:cs typeface="+mn-lt"/>
              </a:rPr>
              <a:t>   </a:t>
            </a:r>
            <a:endParaRPr lang="en-US"/>
          </a:p>
          <a:p>
            <a:pPr marL="800100" lvl="1" indent="-342900"/>
            <a:r>
              <a:rPr lang="en-US" err="1">
                <a:ea typeface="+mn-lt"/>
                <a:cs typeface="+mn-lt"/>
              </a:rPr>
              <a:t>sentiment_p_red_mean</a:t>
            </a:r>
            <a:r>
              <a:rPr lang="en-US">
                <a:ea typeface="+mn-lt"/>
                <a:cs typeface="+mn-lt"/>
              </a:rPr>
              <a:t>    </a:t>
            </a:r>
            <a:endParaRPr lang="en-US"/>
          </a:p>
          <a:p>
            <a:pPr marL="800100" lvl="1" indent="-342900"/>
            <a:r>
              <a:rPr lang="en-US" err="1">
                <a:ea typeface="+mn-lt"/>
                <a:cs typeface="+mn-lt"/>
              </a:rPr>
              <a:t>arousal_mean</a:t>
            </a:r>
            <a:r>
              <a:rPr lang="en-US">
                <a:ea typeface="+mn-lt"/>
                <a:cs typeface="+mn-lt"/>
              </a:rPr>
              <a:t>           </a:t>
            </a:r>
            <a:endParaRPr lang="en-US"/>
          </a:p>
          <a:p>
            <a:pPr marL="800100" lvl="1" indent="-342900"/>
            <a:r>
              <a:rPr lang="en-US" err="1">
                <a:ea typeface="+mn-lt"/>
                <a:cs typeface="+mn-lt"/>
              </a:rPr>
              <a:t>dominance_mean</a:t>
            </a:r>
            <a:r>
              <a:rPr lang="en-US">
                <a:ea typeface="+mn-lt"/>
                <a:cs typeface="+mn-lt"/>
              </a:rPr>
              <a:t>          </a:t>
            </a:r>
            <a:endParaRPr lang="en-US"/>
          </a:p>
          <a:p>
            <a:pPr marL="800100" lvl="1" indent="-342900"/>
            <a:r>
              <a:rPr lang="en-US" err="1">
                <a:ea typeface="+mn-lt"/>
                <a:cs typeface="+mn-lt"/>
              </a:rPr>
              <a:t>valence_mean</a:t>
            </a:r>
            <a:r>
              <a:rPr lang="en-US">
                <a:ea typeface="+mn-lt"/>
                <a:cs typeface="+mn-lt"/>
              </a:rPr>
              <a:t>             </a:t>
            </a:r>
            <a:endParaRPr lang="en-US"/>
          </a:p>
          <a:p>
            <a:pPr marL="800100" lvl="1" indent="-342900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84517EE-BDEA-2771-B02C-65E0E7C5439C}"/>
              </a:ext>
            </a:extLst>
          </p:cNvPr>
          <p:cNvSpPr txBox="1">
            <a:spLocks/>
          </p:cNvSpPr>
          <p:nvPr/>
        </p:nvSpPr>
        <p:spPr>
          <a:xfrm>
            <a:off x="836535" y="1690713"/>
            <a:ext cx="10861206" cy="52051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From transcripts (Tobias Hallmen did it </a:t>
            </a:r>
            <a:r>
              <a:rPr lang="en-US" err="1"/>
              <a:t>yaay</a:t>
            </a:r>
            <a:r>
              <a:rPr lang="en-US"/>
              <a:t>!)</a:t>
            </a:r>
          </a:p>
        </p:txBody>
      </p:sp>
    </p:spTree>
    <p:extLst>
      <p:ext uri="{BB962C8B-B14F-4D97-AF65-F5344CB8AC3E}">
        <p14:creationId xmlns:p14="http://schemas.microsoft.com/office/powerpoint/2010/main" val="2731625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0BA26-4D6C-BC17-D602-15B7FD3045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126BC-299E-7BD3-94FD-67ABDDFC42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Suggested Linguistic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E217E9-B60A-8F7E-81C8-E3394B8C0C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9938" y="2362772"/>
            <a:ext cx="10153195" cy="37600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>
                <a:ea typeface="+mn-lt"/>
                <a:cs typeface="+mn-lt"/>
              </a:rPr>
              <a:t>Purely linguistic</a:t>
            </a:r>
          </a:p>
          <a:p>
            <a:pPr lvl="1"/>
            <a:r>
              <a:rPr lang="en-US" err="1">
                <a:ea typeface="+mn-lt"/>
                <a:cs typeface="+mn-lt"/>
              </a:rPr>
              <a:t>segment_duration_s</a:t>
            </a:r>
            <a:r>
              <a:rPr lang="en-US">
                <a:ea typeface="+mn-lt"/>
                <a:cs typeface="+mn-lt"/>
              </a:rPr>
              <a:t> (length of what Whisper outputs as a segment, kind of like sentence length)</a:t>
            </a:r>
            <a:endParaRPr lang="en-US" err="1"/>
          </a:p>
          <a:p>
            <a:pPr lvl="1"/>
            <a:r>
              <a:rPr lang="en-US" err="1">
                <a:ea typeface="+mn-lt"/>
                <a:cs typeface="+mn-lt"/>
              </a:rPr>
              <a:t>word_count</a:t>
            </a:r>
            <a:r>
              <a:rPr lang="en-US">
                <a:ea typeface="+mn-lt"/>
                <a:cs typeface="+mn-lt"/>
              </a:rPr>
              <a:t>     </a:t>
            </a:r>
            <a:endParaRPr lang="en-US"/>
          </a:p>
          <a:p>
            <a:pPr lvl="1"/>
            <a:r>
              <a:rPr lang="en-US" err="1">
                <a:ea typeface="+mn-lt"/>
                <a:cs typeface="+mn-lt"/>
              </a:rPr>
              <a:t>avg_word_length</a:t>
            </a:r>
            <a:r>
              <a:rPr lang="en-US">
                <a:ea typeface="+mn-lt"/>
                <a:cs typeface="+mn-lt"/>
              </a:rPr>
              <a:t> </a:t>
            </a:r>
            <a:endParaRPr lang="en-US"/>
          </a:p>
          <a:p>
            <a:pPr lvl="1"/>
            <a:r>
              <a:rPr lang="en-US" err="1">
                <a:ea typeface="+mn-lt"/>
                <a:cs typeface="+mn-lt"/>
              </a:rPr>
              <a:t>words_per_second</a:t>
            </a:r>
            <a:r>
              <a:rPr lang="en-US">
                <a:ea typeface="+mn-lt"/>
                <a:cs typeface="+mn-lt"/>
              </a:rPr>
              <a:t>  </a:t>
            </a:r>
            <a:endParaRPr lang="en-US"/>
          </a:p>
          <a:p>
            <a:pPr lvl="1"/>
            <a:r>
              <a:rPr lang="en-US">
                <a:ea typeface="+mn-lt"/>
                <a:cs typeface="+mn-lt"/>
              </a:rPr>
              <a:t>question                 </a:t>
            </a:r>
            <a:endParaRPr lang="en-US"/>
          </a:p>
          <a:p>
            <a:pPr lvl="1"/>
            <a:r>
              <a:rPr lang="en-US">
                <a:ea typeface="+mn-lt"/>
                <a:cs typeface="+mn-lt"/>
              </a:rPr>
              <a:t>statement                </a:t>
            </a:r>
            <a:endParaRPr lang="en-US" err="1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4BC96018-6D02-14F1-6CB7-D954B697E936}"/>
              </a:ext>
            </a:extLst>
          </p:cNvPr>
          <p:cNvSpPr txBox="1">
            <a:spLocks/>
          </p:cNvSpPr>
          <p:nvPr/>
        </p:nvSpPr>
        <p:spPr>
          <a:xfrm>
            <a:off x="836535" y="1690713"/>
            <a:ext cx="10861206" cy="52051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From transcripts (Tobias Hallmen did it </a:t>
            </a:r>
            <a:r>
              <a:rPr lang="en-US" err="1"/>
              <a:t>yaay</a:t>
            </a:r>
            <a:r>
              <a:rPr lang="en-US"/>
              <a:t>!)</a:t>
            </a:r>
          </a:p>
        </p:txBody>
      </p:sp>
    </p:spTree>
    <p:extLst>
      <p:ext uri="{BB962C8B-B14F-4D97-AF65-F5344CB8AC3E}">
        <p14:creationId xmlns:p14="http://schemas.microsoft.com/office/powerpoint/2010/main" val="1276114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8F414-E283-7C60-50EB-CB1379B4A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DAECAF-CB06-F6CA-A505-187A32B79A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2661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Paralinguistic RQs:</a:t>
            </a:r>
          </a:p>
          <a:p>
            <a:pPr lvl="1" indent="-342900">
              <a:buFont typeface="Courier New,monospace" panose="020B0604020202020204" pitchFamily="34" charset="0"/>
              <a:buChar char="o"/>
            </a:pPr>
            <a:r>
              <a:rPr lang="en-US"/>
              <a:t>How do TE values differ between all 9 gaze x speaker configs?</a:t>
            </a:r>
          </a:p>
          <a:p>
            <a:pPr lvl="1" indent="-342900">
              <a:buFont typeface="Courier New,monospace" panose="020B0604020202020204" pitchFamily="34" charset="0"/>
              <a:buChar char="o"/>
            </a:pPr>
            <a:r>
              <a:rPr lang="en-US"/>
              <a:t>How well does a classifier learn to detect TE with gaze x speaker features?</a:t>
            </a:r>
          </a:p>
          <a:p>
            <a:r>
              <a:rPr lang="en-US"/>
              <a:t>Linguistic RQs:</a:t>
            </a:r>
          </a:p>
          <a:p>
            <a:pPr lvl="1" indent="-342900">
              <a:buFont typeface="Courier New,monospace" panose="020B0604020202020204" pitchFamily="34" charset="0"/>
              <a:buChar char="o"/>
            </a:pPr>
            <a:r>
              <a:rPr lang="en-US">
                <a:latin typeface="Calibri"/>
                <a:ea typeface="Calibri"/>
                <a:cs typeface="Calibri"/>
              </a:rPr>
              <a:t>How well does a classifier learn to detect TE with </a:t>
            </a:r>
            <a:r>
              <a:rPr lang="en-US" b="1"/>
              <a:t>only </a:t>
            </a:r>
            <a:r>
              <a:rPr lang="en-US" b="1">
                <a:latin typeface="Aptos"/>
                <a:ea typeface="Calibri"/>
                <a:cs typeface="Calibri"/>
              </a:rPr>
              <a:t>linguistic </a:t>
            </a:r>
            <a:r>
              <a:rPr lang="en-US">
                <a:latin typeface="Calibri"/>
                <a:ea typeface="Calibri"/>
                <a:cs typeface="Calibri"/>
              </a:rPr>
              <a:t>features?</a:t>
            </a:r>
          </a:p>
          <a:p>
            <a:pPr lvl="1" indent="-342900">
              <a:buFont typeface="Courier New,monospace" panose="020B0604020202020204" pitchFamily="34" charset="0"/>
              <a:buChar char="o"/>
            </a:pPr>
            <a:r>
              <a:rPr lang="en-US">
                <a:latin typeface="Calibri"/>
                <a:ea typeface="Calibri"/>
                <a:cs typeface="Calibri"/>
              </a:rPr>
              <a:t>Which linguistic features have the strongest predictive power?</a:t>
            </a:r>
            <a:endParaRPr lang="en-US"/>
          </a:p>
          <a:p>
            <a:r>
              <a:rPr lang="en-US">
                <a:latin typeface="Calibri"/>
                <a:ea typeface="Calibri"/>
                <a:cs typeface="Calibri"/>
              </a:rPr>
              <a:t>Multimodal:</a:t>
            </a:r>
          </a:p>
          <a:p>
            <a:pPr lvl="1" indent="-342900">
              <a:buFont typeface="Courier New,monospace" panose="020B0604020202020204" pitchFamily="34" charset="0"/>
              <a:buChar char="o"/>
            </a:pPr>
            <a:r>
              <a:rPr lang="en-US">
                <a:latin typeface="Calibri"/>
                <a:ea typeface="Calibri"/>
                <a:cs typeface="Calibri"/>
              </a:rPr>
              <a:t>How well does a classifier learn to detect TE with </a:t>
            </a:r>
            <a:r>
              <a:rPr lang="en-US" b="1">
                <a:latin typeface="Aptos"/>
                <a:ea typeface="Calibri"/>
                <a:cs typeface="Calibri"/>
              </a:rPr>
              <a:t>both </a:t>
            </a:r>
            <a:r>
              <a:rPr lang="en-US">
                <a:latin typeface="Calibri"/>
                <a:ea typeface="Calibri"/>
                <a:cs typeface="Calibri"/>
              </a:rPr>
              <a:t>feature sets?</a:t>
            </a:r>
          </a:p>
          <a:p>
            <a:pPr lvl="1" indent="-342900">
              <a:buFont typeface="Courier New" panose="020B0604020202020204" pitchFamily="34" charset="0"/>
              <a:buChar char="o"/>
            </a:pPr>
            <a:endParaRPr lang="en-US">
              <a:latin typeface="Calibri"/>
              <a:ea typeface="Calibri"/>
              <a:cs typeface="Calibri"/>
            </a:endParaRPr>
          </a:p>
          <a:p>
            <a:pPr lvl="1" indent="-342900">
              <a:buFont typeface="Courier New" panose="020B0604020202020204" pitchFamily="34" charset="0"/>
              <a:buChar char="o"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5302790"/>
      </p:ext>
    </p:extLst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Linguistic TE Detector — Setup (DISCOVER)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Data: 20 floorlevel groups (8 dyads, 12 triads), interaction-time only</a:t>
            </a:r>
          </a:p>
          <a:p>
            <a:pPr/>
            <a:r>
              <a:rPr sz="1800"/>
              <a:t>Unit: 60 s windows (best granularity, see next); target: task engagement high/low at 0.5</a:t>
            </a:r>
          </a:p>
          <a:p>
            <a:pPr/>
            <a:r>
              <a:rPr sz="1800"/>
              <a:t>Features (no gaze):</a:t>
            </a:r>
          </a:p>
          <a:p>
            <a:pPr lvl="1"/>
            <a:r>
              <a:rPr sz="1600"/>
              <a:t>Linguistic: word_count, words_per_second, avg_word_length, question/statement_rate, segment_count, speaking_seconds</a:t>
            </a:r>
          </a:p>
          <a:p>
            <a:pPr lvl="1"/>
            <a:r>
              <a:rPr sz="1600"/>
              <a:t>Affective: sentiment, arousal, dominance, valence; plus speaking activity</a:t>
            </a:r>
          </a:p>
          <a:p>
            <a:pPr/>
            <a:r>
              <a:rPr sz="1800"/>
              <a:t>Eval: leave-one-session-out CV; model sweep (QDA, SVM, NB, kNN, RF, LogReg) vs uniform baseline</a:t>
            </a:r>
          </a:p>
          <a:p>
            <a:pPr/>
            <a:r>
              <a:rPr sz="1800"/>
              <a:t>Reported on dyads (D) / triads (T) / all, matching prior 3-fold reporting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1"/>
          <p:cNvGraphicFramePr>
            <a:graphicFrameLocks noGrp="1"/>
          </p:cNvGraphicFramePr>
          <p:nvPr/>
        </p:nvGraphicFramePr>
        <p:xfrm>
          <a:off x="365760" y="1371600"/>
          <a:ext cx="104241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828800"/>
                <a:gridCol w="1737360"/>
                <a:gridCol w="731520"/>
                <a:gridCol w="2194560"/>
                <a:gridCol w="2560320"/>
              </a:tblGrid>
              <a:tr h="320040">
                <a:tc>
                  <a:txBody>
                    <a:bodyPr/>
                    <a:lstStyle/>
                    <a:p>
                      <a:r>
                        <a:rPr sz="1200" b="1"/>
                        <a:t>Split (folds)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Best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Acc (mean±SD)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vs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 b="1"/>
                        <a:t>vs prior GazexSpeak QDA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/>
                        <a:t>Dyads (8)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QDA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0.74 ± 0.21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ns (d=+0.89)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ns (d=+0.52)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/>
                        <a:t>Triads (12)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0.88 ± 0.09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p&lt;0.001  d=2.4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p=0.005  d=1.35 ✓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/>
                    <a:lstStyle/>
                    <a:p>
                      <a:r>
                        <a:rPr sz="1200"/>
                        <a:t>All (20)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Random Forest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0.82 ± 0.16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p&lt;0.001  d=1.48 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p=0.004  d=0.92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365760" y="2834640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i="1"/>
              <a:t>Per-fold leave-one-group-out accuracy; paired t-test (Bonferroni) + Cohen's d. Linguistic+affective beats the prior gaze×speaking QDA on Triads &amp; All (medium–large effect, d 0.9–1.35); dyads trend the same way but n=8 is underpowered. No gaze features used.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274320"/>
            <a:ext cx="10424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Group TE Detection: Results + Significance (vs prior detector)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Why 60 s Windows (Granularity)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9601200" cy="9601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200400"/>
                <a:gridCol w="2743200"/>
              </a:tblGrid>
              <a:tr h="320039">
                <a:tc>
                  <a:txBody>
                    <a:bodyPr/>
                    <a:lstStyle/>
                    <a:p>
                      <a:r>
                        <a:rPr sz="1300" b="1"/>
                        <a:t>Granularity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Group TE (All):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/>
                        <a:t>F1-macro</a:t>
                      </a:r>
                    </a:p>
                  </a:txBody>
                  <a:tcPr/>
                </a:tc>
              </a:tr>
              <a:tr h="320039">
                <a:tc>
                  <a:txBody>
                    <a:bodyPr/>
                    <a:lstStyle/>
                    <a:p>
                      <a:r>
                        <a:rPr sz="1200"/>
                        <a:t>Transcript segment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0.56</a:t>
                      </a:r>
                    </a:p>
                  </a:txBody>
                  <a:tcPr/>
                </a:tc>
              </a:tr>
              <a:tr h="320041">
                <a:tc>
                  <a:txBody>
                    <a:bodyPr/>
                    <a:lstStyle/>
                    <a:p>
                      <a:r>
                        <a:rPr sz="1200"/>
                        <a:t>60 s window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0.76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560319"/>
            <a:ext cx="10232136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/>
              <a:t>Aggregating to 60 s removes per-utterance noise -&gt; large gain. 1 Hz frames add nothing. 60 s also matches the prior-work window size.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Drives Task Engagement? (feature contribution)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Group TE: group affect dominates</a:t>
            </a:r>
          </a:p>
          <a:p>
            <a:pPr lvl="1"/>
            <a:r>
              <a:rPr sz="1600"/>
              <a:t>valence (positive -&gt; high TE), dominance (negative), arousal</a:t>
            </a:r>
          </a:p>
          <a:p>
            <a:pPr/>
            <a:r>
              <a:rPr sz="1800"/>
              <a:t>Individual engagement: more distributed</a:t>
            </a:r>
          </a:p>
          <a:p>
            <a:pPr lvl="1"/>
            <a:r>
              <a:rPr sz="1600"/>
              <a:t>own speaking activity + word_count / words_per_second + affect</a:t>
            </a:r>
          </a:p>
          <a:p>
            <a:pPr/>
            <a:r>
              <a:rPr sz="1800"/>
              <a:t>Method: standardized logistic-regression coefficients + Random-Forest importance (LOSO)</a:t>
            </a:r>
          </a:p>
          <a:p>
            <a:pPr/>
            <a:r>
              <a:rPr sz="1800"/>
              <a:t>Linguistic features explain individual engagement more than group 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Do Audio / Text Embeddings Help?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Tested base features + openSMILE + emoW2V + sentiment embeddings (1880 dims -&gt; PCA)</a:t>
            </a:r>
          </a:p>
          <a:p>
            <a:pPr/>
            <a:r>
              <a:rPr sz="1800"/>
              <a:t>No improvement - embeddings on top of base features hurt cross-session F1</a:t>
            </a:r>
          </a:p>
          <a:p>
            <a:pPr lvl="1"/>
            <a:r>
              <a:rPr sz="1600"/>
              <a:t>High-dimensional streams add noise that degrades leave-one-session-out generalization</a:t>
            </a:r>
          </a:p>
          <a:p>
            <a:pPr/>
            <a:r>
              <a:rPr sz="1800"/>
              <a:t>Conclusion: keep the detector light - simple interpretable features win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Answers to Research Questions &amp; 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pPr/>
            <a:r>
              <a:rPr sz="1800"/>
              <a:t>Linguistic-only detects TE? Yes - group TE F1 0.76 (All), beats gaze x speaking baseline</a:t>
            </a:r>
          </a:p>
          <a:p>
            <a:pPr/>
            <a:r>
              <a:rPr sz="1800"/>
              <a:t>Strongest features? speaking + word rate (individual); group affect (group TE)</a:t>
            </a:r>
          </a:p>
          <a:p>
            <a:pPr/>
            <a:r>
              <a:rPr sz="1800"/>
              <a:t>Multimodal (linguistic + embeddings)? No gain yet</a:t>
            </a:r>
          </a:p>
          <a:p>
            <a:pPr/>
            <a:r>
              <a:rPr sz="1800"/>
              <a:t>Open: individual engagement still hard (~0.70); class imbalance (74% high); per-segment text RQ; tune threshold for balanced recall</a:t>
            </a:r>
          </a:p>
          <a:p>
            <a:pPr/>
            <a:r>
              <a:rPr sz="1800"/>
              <a:t>1-year vision: real-time per-window TE detection from transcript + audio affect, generalizing across sessions, feeding adaptive VR feedback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9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Vilearn 2026 Next Study</vt:lpstr>
      <vt:lpstr>Results comparison 2026-05-26</vt:lpstr>
      <vt:lpstr>Current Features (Group Level) </vt:lpstr>
      <vt:lpstr>Suggested Paralinguistic Features</vt:lpstr>
      <vt:lpstr>Gaze Configs x Speaking-Listening Configs</vt:lpstr>
      <vt:lpstr>Comments from Meeting Gaze Configs x Speaking-Silent Configs</vt:lpstr>
      <vt:lpstr>Suggested Linguistic Features</vt:lpstr>
      <vt:lpstr>Suggested Linguistic Features</vt:lpstr>
      <vt:lpstr>Research Questions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3</cp:revision>
  <dcterms:created xsi:type="dcterms:W3CDTF">2026-03-02T17:10:27Z</dcterms:created>
  <dcterms:modified xsi:type="dcterms:W3CDTF">2026-06-01T11:19:01Z</dcterms:modified>
</cp:coreProperties>
</file>